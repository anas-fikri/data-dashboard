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Ini ringkasan proyek Data Dashboard untuk PCP Express: aplikasi web yang menggantikan dashboard Excel. Kita bahas latar masalahnya, cara kerja aplikasi, apa saja yang sudah selesai, hasil uji performa di server produksi, dan keputusan yang dibutuhkan untuk tahap berikutnya.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masalah utama dashboard Excel di PCP Express. Pertama, file 100 MB ke atas sudah tidak bisa dibuka lancar. Kedua, formula rapuh: satu sel bergeser, seluruh laporan bisa salah. Ketiga, tidak kolaboratif: salinan berbeda beredar lewat email. Keempat, tiap departemen punya format sendiri. Aplikasi ini memindahkan data ke satu tempat yang aman dan bisa dipakai bersama.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kemampuan utama. Unggah file Excel atau CSV sampai 1 GB, dan unggahan bisa dilanjutkan bila koneksi putus. Skema dideteksi otomatis, termasuk tanggal format Indonesia, dan bisa dikoreksi tanpa unggah ulang. Dashboard dirakit dari widget angka, batang, garis, pai, dan tabel. Dashboard bisa dibagikan dengan peran hanya lihat atau bisa mengedit, atau ke seluruh organisasi. Data bisa diekspor ke CSV, Excel, dan PDF. Ada panduan bernarasi per peran dan menu admin.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pengguna dalam tujuh langkah. Masuk dengan email domain perusahaan yang sudah terverifikasi. Buat dataset sebagai wadah data. Unggah file Excel atau CSV sampai 1 GB; prosesnya otomatis. Periksa skema: nama dan tipe kolom bisa dikoreksi. Susun dashboard dari widget. Bagikan ke rekan dengan peran hanya lihat atau bisa mengedit, atau ke seluruh organisasi. Penerima melihat dashboard, memakai filter, dan mengekspor data. Di setiap langkah ada panduan dan video bernarasi sesuai peran.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balik layar ada dua alur. Alur A, unggah dan proses: browser memotong file per bagian 16 MB dan mengirimnya langsung ke penyimpanan objek, jadi file 1 GB tidak pernah dimuat utuh di browser atau di memori server. Setelah terunggah, pekerjaan masuk antrean; dua worker memproses bersamaan, membaca file secara streaming, mendeteksi tipe kolom, lalu menyimpan data dalam format Parquet per sheet. Alur B, memakai dashboard: setiap widget mengirim query deklaratif, bukan SQL mentah. Aplikasi mengecek hak akses, lalu DuckDB membaca Parquet dengan cache. Pada data 1 GB, 95 persen query selesai di bawah 261 milidetik. Ekspor juga diproses lewat antrean.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berjalan di satu VM, server olympus, sebagai delapan layanan Docker Compose. Empat memproses permintaan: proxy TLS sebagai satu-satunya pintu masuk, aplikasi Next.js, dua worker untuk ingest, ekspor, dan PDF, serta renderer PDF yang terisolasi tanpa internet. Empat menyimpan data: PostgreSQL untuk metadata, Redis untuk antrean, RustFS sebagai penyimpanan objek kompatibel S3, dan backup harian terenkripsi yang uji restorenya sudah lulus. Semua komponen open source, tanpa biaya lisensi.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 delapan hari, 11 sampai 18 Oktober, 51 task selesai, masing-masing dengan review dan pemeriksaan keamanan. Ada 340 commit, 1.856 tes otomatis yang semuanya lolos, dan 8 keputusan arsitektur yang tercatat. Tiga sasaran utama sudah tuntas: fondasi dan akses, pipeline data, dan pembuat dashboard. Operasional tiga dari lima: produksi sudah berjalan, tetapi backup di luar VM dan VM dengan disk SSD masih menunggu. Tahap berikutnya, Lihat data gaya Excel dan data per periode, sudah direncanakan dalam 31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Halaman Panduan berisi artikel dan sembilan video per peran. Pemilik data punya empat video: unggah, skema, dashboard, dan bagikan. Editor, viewer, dan admin masing-masing punya video sendiri, dan ada satu video umum untuk semua peran. Setiap video bernarasi bahasa Indonesia dengan satu suara yang konsisten, punya takarir, sudah disesuaikan dengan tampilan terbaru, dan dicek per frame. Di server produksi, kesembilan file terbukti identik dengan hasil rekaman.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Keamanan dibangun sejak awal. Registrasi hanya untuk email domain perusahaan dan wajib verifikasi. Hak akses selalu dicek di server; data yang tidak boleh dilihat tampil sebagai tidak ditemukan, jadi keberadaannya pun tidak bocor. Ada batas laju untuk login dan unggah, serta kuota 20 GiB per pengguna. Dari jaringan, hanya proxy yang membuka port; renderer PDF tidak punya akses internet. Backup harian terenkripsi dengan retensi 30 hari, dan latihan restore sudah lulus. Setiap task melewati daftar periksa keamanan OWASP ASVS, review independen, dan audit dependensi.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angka kunci dari uji di server produksi pada 18 Oktober. File CSV 500 MB, sekitar 4 juta baris, siap dipakai dalam kira-kira 5 menit sejak diunggah dari jaringan kantor. Excel 500 MB dengan dua sheet sekitar 8,5 menit. Selama uji, server tetap tenang: disk paling sibuk 14 persen, jauh dari ambang aman 50 persen yang kami pasang.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ini menjawab pertanyaan paling sering: berapa lama sampai data siap dipakai. Angkanya waktu unggah ditambah proses di server produksi, dari jaringan kantor 100 Mbps. File 10 MB sekitar 12 detik. CSV 100 MB sekitar 1 menit, 500 MB sekitar 5 menit. Excel lebih lama: 100 MB sekitar 2,5 menit, 500 MB sekitar 8,5 menit. Kalau mengunggah lewat VPN, tambahkan kolom terakhir; VPN yang kami ukur 27 Mbps. Baris 1 GB masih perkiraan dari tren, belum diukur langsung. Angka berlaku saat antrean kosong; ada dua worker, jadi unggahan besar ketiga yang bersamaan akan menunggu giliran.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pelajaran dari uji. Pertama, waktu proses CSV naik lurus: kira-kira 4 detik ditambah 0,54 detik per MB, sehingga mudah ditebak. Kedua, untuk Excel yang menentukan adalah jumlah baris per sheet, bukan ukuran file; Excel 1,5 sampai 2,6 kali lebih lambat dari CSV, dan beberapa sheet dibaca paralel. Ketiga, server tetap aman selama uji: beban puncak 5,8 dari 8 CPU, disk paling sibuk 14 persen. Keempat, dibanding uji awal, sekarang sekitar dua kali lebih cepat. Saran praktis: untuk data 100 MB ke atas, simpan sebagai CSV.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 lima hal yang butuh keputusan atau bantuan. Pertama, backup terenkripsi sudah berjalan harian, tetapi masih di VM yang sama; perlu target di luar VM seperti NAS, SFTP, atau S3. Kedua, VM dengan disk SSD, atau izin membangun image di luar VM: build di olympus butuh 21 menit dan uji 1 GB terhambat disk HDD yang dipakai bersama. Ketiga, database olympus masih berenkode SQL_ASCII dan perlu dikonversi ke UTF-8 dengan akses sudo sekali. Keempat, persetujuan model data periode di ADR-0008, yang membuka 31 task tahap berikutnya. Kelima, opsional: izin uji 1 GB dan tiga thread ingest di jam sepi.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berikutnya punya tiga bagian. Pertama, Lihat data gaya Excel: tabel baca-saja yang tetap lancar untuk jutaan baris, dengan urut, saring, cari, dan salin ke Excel. Komponennya sudah dipilih lewat spike: AG Grid Community. Kedua, data per periode: unggah bulanan tanpa memotong periode, dan pengguna meninjau perubahan sebelum data lama diganti. Ketiga, unggah banyak file periode sekaligus lewat antrean, dengan batas dan proyeksi kuota. Semuanya sudah dirinci dalam 31 task dan siap dimulai setelah model data periode di ADR-0008 disetujui.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Terima kasih. Aplikasi bisa diakses dari jaringan kantor di alamat yang tertera, dan panduan lengkap beserta video ada di menu Panduan. Kami tunggu pertanyaan dan masukannya, terutama untuk lima keputusan di slide sebelumnya.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02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spAutoFit/>
          </a:bodyPr>
          <a:lstStyle/>
          <a:p>
            <a:pPr algn="l">
              <a:spcBef>
                <a:spcPts val="0"/>
              </a:spcBef>
            </a:pPr>
            <a:r>
              <a:rPr sz="1200" b="1" spc="300">
                <a:solidFill>
                  <a:srgbClr val="F2A27C"/>
                </a:solidFill>
                <a:latin typeface="Arial"/>
              </a:rPr>
              <a:t>PCP EXPRESS · 18 OKTOBER 2026</a:t>
            </a:r>
          </a:p>
        </p:txBody>
      </p:sp>
      <p:sp>
        <p:nvSpPr>
          <p:cNvPr id="3" name="TextBox 2"/>
          <p:cNvSpPr txBox="1"/>
          <p:nvPr/>
        </p:nvSpPr>
        <p:spPr>
          <a:xfrm>
            <a:off x="812800" y="2413000"/>
            <a:ext cx="10566400" cy="825500"/>
          </a:xfrm>
          <a:prstGeom prst="rect">
            <a:avLst/>
          </a:prstGeom>
          <a:noFill/>
        </p:spPr>
        <p:txBody>
          <a:bodyPr wrap="square" lIns="0" rIns="0" tIns="0" bIns="0">
            <a:spAutoFit/>
          </a:bodyPr>
          <a:lstStyle/>
          <a:p>
            <a:pPr algn="l">
              <a:spcBef>
                <a:spcPts val="0"/>
              </a:spcBef>
            </a:pPr>
            <a:r>
              <a:rPr sz="5600" b="1">
                <a:solidFill>
                  <a:srgbClr val="F7F6F2"/>
                </a:solidFill>
                <a:latin typeface="Arial"/>
              </a:rPr>
              <a:t>Data Dashboard</a:t>
            </a:r>
          </a:p>
        </p:txBody>
      </p:sp>
      <p:sp>
        <p:nvSpPr>
          <p:cNvPr id="4" name="TextBox 3"/>
          <p:cNvSpPr txBox="1"/>
          <p:nvPr/>
        </p:nvSpPr>
        <p:spPr>
          <a:xfrm>
            <a:off x="812800" y="3365500"/>
            <a:ext cx="8255000" cy="698500"/>
          </a:xfrm>
          <a:prstGeom prst="rect">
            <a:avLst/>
          </a:prstGeom>
          <a:noFill/>
        </p:spPr>
        <p:txBody>
          <a:bodyPr wrap="square" lIns="0" rIns="0" tIns="0" bIns="0">
            <a:spAutoFit/>
          </a:bodyPr>
          <a:lstStyle/>
          <a:p>
            <a:pPr algn="l">
              <a:spcBef>
                <a:spcPts val="0"/>
              </a:spcBef>
            </a:pPr>
            <a:r>
              <a:rPr sz="1800" b="0">
                <a:solidFill>
                  <a:srgbClr val="DCE3EE"/>
                </a:solidFill>
                <a:latin typeface="Arial"/>
              </a:rPr>
              <a:t>Pengganti dashboard Excel: unggah data sampai 1 GB, lalu rakit dashboard sendiri tanpa coding.</a:t>
            </a:r>
          </a:p>
        </p:txBody>
      </p:sp>
      <p:sp>
        <p:nvSpPr>
          <p:cNvPr id="5" name="Rectangle 4"/>
          <p:cNvSpPr/>
          <p:nvPr/>
        </p:nvSpPr>
        <p:spPr>
          <a:xfrm>
            <a:off x="812800" y="5334000"/>
            <a:ext cx="1016000" cy="25400"/>
          </a:xfrm>
          <a:prstGeom prst="rect">
            <a:avLst/>
          </a:prstGeom>
          <a:solidFill>
            <a:srgbClr val="F2A27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6" name="TextBox 5"/>
          <p:cNvSpPr txBox="1"/>
          <p:nvPr/>
        </p:nvSpPr>
        <p:spPr>
          <a:xfrm>
            <a:off x="812800" y="5511800"/>
            <a:ext cx="10566400" cy="317500"/>
          </a:xfrm>
          <a:prstGeom prst="rect">
            <a:avLst/>
          </a:prstGeom>
          <a:noFill/>
        </p:spPr>
        <p:txBody>
          <a:bodyPr wrap="square" lIns="0" rIns="0" tIns="0" bIns="0">
            <a:spAutoFit/>
          </a:bodyPr>
          <a:lstStyle/>
          <a:p>
            <a:pPr algn="l">
              <a:spcBef>
                <a:spcPts val="0"/>
              </a:spcBef>
            </a:pPr>
            <a:r>
              <a:rPr sz="1400" b="0">
                <a:solidFill>
                  <a:srgbClr val="BFC8D6"/>
                </a:solidFill>
                <a:latin typeface="Arial"/>
              </a:rPr>
              <a:t>Ringkasan proyek, cara kerja, dan hasil uji performa di server produksi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Kenapa dashboard Excel tidak cukup lagi</a:t>
            </a:r>
          </a:p>
        </p:txBody>
      </p:sp>
      <p:sp>
        <p:nvSpPr>
          <p:cNvPr id="3" name="Rounded Rectangle 2"/>
          <p:cNvSpPr/>
          <p:nvPr/>
        </p:nvSpPr>
        <p:spPr>
          <a:xfrm>
            <a:off x="812800" y="1905000"/>
            <a:ext cx="2489200" cy="2159000"/>
          </a:xfrm>
          <a:prstGeom prst="roundRect">
            <a:avLst>
              <a:gd name="adj" fmla="val 470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File berat</a:t>
            </a:r>
          </a:p>
          <a:p>
            <a:pPr algn="l">
              <a:spcBef>
                <a:spcPts val="600"/>
              </a:spcBef>
            </a:pPr>
            <a:r>
              <a:rPr sz="1400" b="0">
                <a:solidFill>
                  <a:srgbClr val="4A5568"/>
                </a:solidFill>
                <a:latin typeface="Arial"/>
              </a:rPr>
              <a:t>File 100 MB ke atas sudah tidak bisa dibuka lancar.</a:t>
            </a:r>
          </a:p>
        </p:txBody>
      </p:sp>
      <p:sp>
        <p:nvSpPr>
          <p:cNvPr id="4" name="Rounded Rectangle 3"/>
          <p:cNvSpPr/>
          <p:nvPr/>
        </p:nvSpPr>
        <p:spPr>
          <a:xfrm>
            <a:off x="3505200" y="1905000"/>
            <a:ext cx="2489200" cy="2159000"/>
          </a:xfrm>
          <a:prstGeom prst="roundRect">
            <a:avLst>
              <a:gd name="adj" fmla="val 470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Formula rapuh</a:t>
            </a:r>
          </a:p>
          <a:p>
            <a:pPr algn="l">
              <a:spcBef>
                <a:spcPts val="600"/>
              </a:spcBef>
            </a:pPr>
            <a:r>
              <a:rPr sz="1400" b="0">
                <a:solidFill>
                  <a:srgbClr val="4A5568"/>
                </a:solidFill>
                <a:latin typeface="Arial"/>
              </a:rPr>
              <a:t>Satu sel bergeser, angka di seluruh laporan ikut salah.</a:t>
            </a:r>
          </a:p>
        </p:txBody>
      </p:sp>
      <p:sp>
        <p:nvSpPr>
          <p:cNvPr id="5" name="Rounded Rectangle 4"/>
          <p:cNvSpPr/>
          <p:nvPr/>
        </p:nvSpPr>
        <p:spPr>
          <a:xfrm>
            <a:off x="6197600" y="1905000"/>
            <a:ext cx="2489200" cy="2159000"/>
          </a:xfrm>
          <a:prstGeom prst="roundRect">
            <a:avLst>
              <a:gd name="adj" fmla="val 470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Tidak kolaboratif</a:t>
            </a:r>
          </a:p>
          <a:p>
            <a:pPr algn="l">
              <a:spcBef>
                <a:spcPts val="600"/>
              </a:spcBef>
            </a:pPr>
            <a:r>
              <a:rPr sz="1400" b="0">
                <a:solidFill>
                  <a:srgbClr val="4A5568"/>
                </a:solidFill>
                <a:latin typeface="Arial"/>
              </a:rPr>
              <a:t>Salinan berbeda beredar lewat email; versi mana yang benar?</a:t>
            </a:r>
          </a:p>
        </p:txBody>
      </p:sp>
      <p:sp>
        <p:nvSpPr>
          <p:cNvPr id="6" name="Rounded Rectangle 5"/>
          <p:cNvSpPr/>
          <p:nvPr/>
        </p:nvSpPr>
        <p:spPr>
          <a:xfrm>
            <a:off x="8890000" y="1905000"/>
            <a:ext cx="2489200" cy="2159000"/>
          </a:xfrm>
          <a:prstGeom prst="roundRect">
            <a:avLst>
              <a:gd name="adj" fmla="val 470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Format beragam</a:t>
            </a:r>
          </a:p>
          <a:p>
            <a:pPr algn="l">
              <a:spcBef>
                <a:spcPts val="600"/>
              </a:spcBef>
            </a:pPr>
            <a:r>
              <a:rPr sz="1400" b="0">
                <a:solidFill>
                  <a:srgbClr val="4A5568"/>
                </a:solidFill>
                <a:latin typeface="Arial"/>
              </a:rPr>
              <a:t>Judul di baris ke-N, sheet ganda, tanggal format campur.</a:t>
            </a:r>
          </a:p>
        </p:txBody>
      </p:sp>
      <p:sp>
        <p:nvSpPr>
          <p:cNvPr id="7" name="TextBox 6"/>
          <p:cNvSpPr txBox="1"/>
          <p:nvPr/>
        </p:nvSpPr>
        <p:spPr>
          <a:xfrm>
            <a:off x="812800" y="4635500"/>
            <a:ext cx="9525000" cy="698500"/>
          </a:xfrm>
          <a:prstGeom prst="rect">
            <a:avLst/>
          </a:prstGeom>
          <a:noFill/>
        </p:spPr>
        <p:txBody>
          <a:bodyPr wrap="square" lIns="0" rIns="0" tIns="0" bIns="0">
            <a:spAutoFit/>
          </a:bodyPr>
          <a:lstStyle/>
          <a:p>
            <a:pPr algn="l">
              <a:spcBef>
                <a:spcPts val="0"/>
              </a:spcBef>
            </a:pPr>
            <a:r>
              <a:rPr sz="1800" b="0">
                <a:solidFill>
                  <a:srgbClr val="16202E"/>
                </a:solidFill>
                <a:latin typeface="Arial"/>
              </a:rPr>
              <a:t>Data Dashboard memindahkan data ke </a:t>
            </a:r>
            <a:r>
              <a:rPr sz="1800" b="0">
                <a:solidFill>
                  <a:srgbClr val="2457C5"/>
                </a:solidFill>
                <a:latin typeface="Arial"/>
              </a:rPr>
              <a:t>satu tempat</a:t>
            </a:r>
            <a:r>
              <a:rPr sz="1800" b="0">
                <a:solidFill>
                  <a:srgbClr val="16202E"/>
                </a:solidFill>
                <a:latin typeface="Arial"/>
              </a:rPr>
              <a:t> yang aman, cepat, dan bisa dipakai bersama.</a:t>
            </a:r>
          </a:p>
        </p:txBody>
      </p:sp>
      <p:sp>
        <p:nvSpPr>
          <p:cNvPr id="8" name="TextBox 7"/>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9" name="TextBox 8"/>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Apa yang dibangun</a:t>
            </a:r>
          </a:p>
        </p:txBody>
      </p:sp>
      <p:sp>
        <p:nvSpPr>
          <p:cNvPr id="3" name="Rounded Rectangle 2"/>
          <p:cNvSpPr/>
          <p:nvPr/>
        </p:nvSpPr>
        <p:spPr>
          <a:xfrm>
            <a:off x="81280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Unggah 1 GB</a:t>
            </a:r>
          </a:p>
          <a:p>
            <a:pPr algn="l">
              <a:spcBef>
                <a:spcPts val="600"/>
              </a:spcBef>
            </a:pPr>
            <a:r>
              <a:rPr sz="1400" b="0">
                <a:solidFill>
                  <a:srgbClr val="4A5568"/>
                </a:solidFill>
                <a:latin typeface="Arial"/>
              </a:rPr>
              <a:t>Excel atau CSV, dikirim per bagian dan bisa dilanjutkan bila koneksi putus.</a:t>
            </a:r>
          </a:p>
        </p:txBody>
      </p:sp>
      <p:sp>
        <p:nvSpPr>
          <p:cNvPr id="4" name="Rounded Rectangle 3"/>
          <p:cNvSpPr/>
          <p:nvPr/>
        </p:nvSpPr>
        <p:spPr>
          <a:xfrm>
            <a:off x="440055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Skema otomatis</a:t>
            </a:r>
          </a:p>
          <a:p>
            <a:pPr algn="l">
              <a:spcBef>
                <a:spcPts val="600"/>
              </a:spcBef>
            </a:pPr>
            <a:r>
              <a:rPr sz="1400" b="0">
                <a:solidFill>
                  <a:srgbClr val="4A5568"/>
                </a:solidFill>
                <a:latin typeface="Arial"/>
              </a:rPr>
              <a:t>Header, tipe kolom, dan tanggal Indonesia terdeteksi; koreksi tanpa unggah ulang.</a:t>
            </a:r>
          </a:p>
        </p:txBody>
      </p:sp>
      <p:sp>
        <p:nvSpPr>
          <p:cNvPr id="5" name="Rounded Rectangle 4"/>
          <p:cNvSpPr/>
          <p:nvPr/>
        </p:nvSpPr>
        <p:spPr>
          <a:xfrm>
            <a:off x="798830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Dashboard</a:t>
            </a:r>
          </a:p>
          <a:p>
            <a:pPr algn="l">
              <a:spcBef>
                <a:spcPts val="600"/>
              </a:spcBef>
            </a:pPr>
            <a:r>
              <a:rPr sz="1400" b="0">
                <a:solidFill>
                  <a:srgbClr val="4A5568"/>
                </a:solidFill>
                <a:latin typeface="Arial"/>
              </a:rPr>
              <a:t>Widget angka, batang, garis, pai, dan tabel; filter dan tata letak bebas.</a:t>
            </a:r>
          </a:p>
        </p:txBody>
      </p:sp>
      <p:sp>
        <p:nvSpPr>
          <p:cNvPr id="6" name="Rounded Rectangle 5"/>
          <p:cNvSpPr/>
          <p:nvPr/>
        </p:nvSpPr>
        <p:spPr>
          <a:xfrm>
            <a:off x="81280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Berbagi</a:t>
            </a:r>
          </a:p>
          <a:p>
            <a:pPr algn="l">
              <a:spcBef>
                <a:spcPts val="600"/>
              </a:spcBef>
            </a:pPr>
            <a:r>
              <a:rPr sz="1400" b="0">
                <a:solidFill>
                  <a:srgbClr val="4A5568"/>
                </a:solidFill>
                <a:latin typeface="Arial"/>
              </a:rPr>
              <a:t>Hanya lihat, bisa mengedit widget, atau seluruh organisasi.</a:t>
            </a:r>
          </a:p>
        </p:txBody>
      </p:sp>
      <p:sp>
        <p:nvSpPr>
          <p:cNvPr id="7" name="Rounded Rectangle 6"/>
          <p:cNvSpPr/>
          <p:nvPr/>
        </p:nvSpPr>
        <p:spPr>
          <a:xfrm>
            <a:off x="440055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Ekspor</a:t>
            </a:r>
          </a:p>
          <a:p>
            <a:pPr algn="l">
              <a:spcBef>
                <a:spcPts val="600"/>
              </a:spcBef>
            </a:pPr>
            <a:r>
              <a:rPr sz="1400" b="0">
                <a:solidFill>
                  <a:srgbClr val="4A5568"/>
                </a:solidFill>
                <a:latin typeface="Arial"/>
              </a:rPr>
              <a:t>Data widget ke CSV atau Excel, dashboard ke PDF, diproses lewat antrean.</a:t>
            </a:r>
          </a:p>
        </p:txBody>
      </p:sp>
      <p:sp>
        <p:nvSpPr>
          <p:cNvPr id="8" name="Rounded Rectangle 7"/>
          <p:cNvSpPr/>
          <p:nvPr/>
        </p:nvSpPr>
        <p:spPr>
          <a:xfrm>
            <a:off x="798830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Panduan &amp; admin</a:t>
            </a:r>
          </a:p>
          <a:p>
            <a:pPr algn="l">
              <a:spcBef>
                <a:spcPts val="600"/>
              </a:spcBef>
            </a:pPr>
            <a:r>
              <a:rPr sz="1400" b="0">
                <a:solidFill>
                  <a:srgbClr val="4A5568"/>
                </a:solidFill>
                <a:latin typeface="Arial"/>
              </a:rPr>
              <a:t>9 video bernarasi per peran; admin kelola pengguna, panduan, dan log audit.</a:t>
            </a:r>
          </a:p>
        </p:txBody>
      </p:sp>
      <p:sp>
        <p:nvSpPr>
          <p:cNvPr id="9" name="TextBox 8"/>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10" name="TextBox 9"/>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Alur pengguna: tujuh langkah</a:t>
            </a:r>
          </a:p>
        </p:txBody>
      </p:sp>
      <p:sp>
        <p:nvSpPr>
          <p:cNvPr id="3" name="Rounded Rectangle 2"/>
          <p:cNvSpPr/>
          <p:nvPr/>
        </p:nvSpPr>
        <p:spPr>
          <a:xfrm>
            <a:off x="812800" y="1549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1</a:t>
            </a:r>
          </a:p>
          <a:p>
            <a:pPr algn="l">
              <a:spcBef>
                <a:spcPts val="400"/>
              </a:spcBef>
            </a:pPr>
            <a:r>
              <a:rPr sz="1800" b="1">
                <a:solidFill>
                  <a:srgbClr val="16202E"/>
                </a:solidFill>
                <a:latin typeface="Arial"/>
              </a:rPr>
              <a:t>Masuk</a:t>
            </a:r>
          </a:p>
          <a:p>
            <a:pPr algn="l">
              <a:spcBef>
                <a:spcPts val="600"/>
              </a:spcBef>
            </a:pPr>
            <a:r>
              <a:rPr sz="1200" b="0">
                <a:solidFill>
                  <a:srgbClr val="4A5568"/>
                </a:solidFill>
                <a:latin typeface="Arial"/>
              </a:rPr>
              <a:t>Email domain perusahaan, terverifikasi</a:t>
            </a:r>
          </a:p>
        </p:txBody>
      </p:sp>
      <p:sp>
        <p:nvSpPr>
          <p:cNvPr id="4" name="Rounded Rectangle 3"/>
          <p:cNvSpPr/>
          <p:nvPr/>
        </p:nvSpPr>
        <p:spPr>
          <a:xfrm>
            <a:off x="3556000" y="1549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2</a:t>
            </a:r>
          </a:p>
          <a:p>
            <a:pPr algn="l">
              <a:spcBef>
                <a:spcPts val="400"/>
              </a:spcBef>
            </a:pPr>
            <a:r>
              <a:rPr sz="1800" b="1">
                <a:solidFill>
                  <a:srgbClr val="16202E"/>
                </a:solidFill>
                <a:latin typeface="Arial"/>
              </a:rPr>
              <a:t>Buat dataset</a:t>
            </a:r>
          </a:p>
          <a:p>
            <a:pPr algn="l">
              <a:spcBef>
                <a:spcPts val="600"/>
              </a:spcBef>
            </a:pPr>
            <a:r>
              <a:rPr sz="1200" b="0">
                <a:solidFill>
                  <a:srgbClr val="4A5568"/>
                </a:solidFill>
                <a:latin typeface="Arial"/>
              </a:rPr>
              <a:t>Wadah data dengan nama yang mudah dikenali</a:t>
            </a:r>
          </a:p>
        </p:txBody>
      </p:sp>
      <p:sp>
        <p:nvSpPr>
          <p:cNvPr id="5" name="Rounded Rectangle 4"/>
          <p:cNvSpPr/>
          <p:nvPr/>
        </p:nvSpPr>
        <p:spPr>
          <a:xfrm>
            <a:off x="6299200" y="1549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3</a:t>
            </a:r>
          </a:p>
          <a:p>
            <a:pPr algn="l">
              <a:spcBef>
                <a:spcPts val="400"/>
              </a:spcBef>
            </a:pPr>
            <a:r>
              <a:rPr sz="1800" b="1">
                <a:solidFill>
                  <a:srgbClr val="16202E"/>
                </a:solidFill>
                <a:latin typeface="Arial"/>
              </a:rPr>
              <a:t>Unggah file</a:t>
            </a:r>
          </a:p>
          <a:p>
            <a:pPr algn="l">
              <a:spcBef>
                <a:spcPts val="600"/>
              </a:spcBef>
            </a:pPr>
            <a:r>
              <a:rPr sz="1200" b="0">
                <a:solidFill>
                  <a:srgbClr val="4A5568"/>
                </a:solidFill>
                <a:latin typeface="Arial"/>
              </a:rPr>
              <a:t>Excel atau CSV sampai 1 GB, diproses otomatis</a:t>
            </a:r>
          </a:p>
        </p:txBody>
      </p:sp>
      <p:sp>
        <p:nvSpPr>
          <p:cNvPr id="6" name="Rounded Rectangle 5"/>
          <p:cNvSpPr/>
          <p:nvPr/>
        </p:nvSpPr>
        <p:spPr>
          <a:xfrm>
            <a:off x="9042400" y="1549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4</a:t>
            </a:r>
          </a:p>
          <a:p>
            <a:pPr algn="l">
              <a:spcBef>
                <a:spcPts val="400"/>
              </a:spcBef>
            </a:pPr>
            <a:r>
              <a:rPr sz="1800" b="1">
                <a:solidFill>
                  <a:srgbClr val="16202E"/>
                </a:solidFill>
                <a:latin typeface="Arial"/>
              </a:rPr>
              <a:t>Periksa skema</a:t>
            </a:r>
          </a:p>
          <a:p>
            <a:pPr algn="l">
              <a:spcBef>
                <a:spcPts val="600"/>
              </a:spcBef>
            </a:pPr>
            <a:r>
              <a:rPr sz="1200" b="0">
                <a:solidFill>
                  <a:srgbClr val="4A5568"/>
                </a:solidFill>
                <a:latin typeface="Arial"/>
              </a:rPr>
              <a:t>Nama dan tipe kolom bisa dikoreksi</a:t>
            </a:r>
          </a:p>
        </p:txBody>
      </p:sp>
      <p:sp>
        <p:nvSpPr>
          <p:cNvPr id="7" name="Rounded Rectangle 6"/>
          <p:cNvSpPr/>
          <p:nvPr/>
        </p:nvSpPr>
        <p:spPr>
          <a:xfrm>
            <a:off x="9042400" y="3962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5</a:t>
            </a:r>
          </a:p>
          <a:p>
            <a:pPr algn="l">
              <a:spcBef>
                <a:spcPts val="400"/>
              </a:spcBef>
            </a:pPr>
            <a:r>
              <a:rPr sz="1800" b="1">
                <a:solidFill>
                  <a:srgbClr val="16202E"/>
                </a:solidFill>
                <a:latin typeface="Arial"/>
              </a:rPr>
              <a:t>Dashboard</a:t>
            </a:r>
          </a:p>
          <a:p>
            <a:pPr algn="l">
              <a:spcBef>
                <a:spcPts val="600"/>
              </a:spcBef>
            </a:pPr>
            <a:r>
              <a:rPr sz="1200" b="0">
                <a:solidFill>
                  <a:srgbClr val="4A5568"/>
                </a:solidFill>
                <a:latin typeface="Arial"/>
              </a:rPr>
              <a:t>Susun widget angka, batang, garis, pai, tabel</a:t>
            </a:r>
          </a:p>
        </p:txBody>
      </p:sp>
      <p:sp>
        <p:nvSpPr>
          <p:cNvPr id="8" name="Rounded Rectangle 7"/>
          <p:cNvSpPr/>
          <p:nvPr/>
        </p:nvSpPr>
        <p:spPr>
          <a:xfrm>
            <a:off x="6299200" y="3962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6</a:t>
            </a:r>
          </a:p>
          <a:p>
            <a:pPr algn="l">
              <a:spcBef>
                <a:spcPts val="400"/>
              </a:spcBef>
            </a:pPr>
            <a:r>
              <a:rPr sz="1800" b="1">
                <a:solidFill>
                  <a:srgbClr val="16202E"/>
                </a:solidFill>
                <a:latin typeface="Arial"/>
              </a:rPr>
              <a:t>Bagikan</a:t>
            </a:r>
          </a:p>
          <a:p>
            <a:pPr algn="l">
              <a:spcBef>
                <a:spcPts val="600"/>
              </a:spcBef>
            </a:pPr>
            <a:r>
              <a:rPr sz="1200" b="0">
                <a:solidFill>
                  <a:srgbClr val="4A5568"/>
                </a:solidFill>
                <a:latin typeface="Arial"/>
              </a:rPr>
              <a:t>Hanya lihat, bisa edit, atau seluruh organisasi</a:t>
            </a:r>
          </a:p>
        </p:txBody>
      </p:sp>
      <p:sp>
        <p:nvSpPr>
          <p:cNvPr id="9" name="Rounded Rectangle 8"/>
          <p:cNvSpPr/>
          <p:nvPr/>
        </p:nvSpPr>
        <p:spPr>
          <a:xfrm>
            <a:off x="3556000" y="3962400"/>
            <a:ext cx="2336800" cy="1651000"/>
          </a:xfrm>
          <a:prstGeom prst="roundRect">
            <a:avLst>
              <a:gd name="adj" fmla="val 6153"/>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LANGKAH 7</a:t>
            </a:r>
          </a:p>
          <a:p>
            <a:pPr algn="l">
              <a:spcBef>
                <a:spcPts val="400"/>
              </a:spcBef>
            </a:pPr>
            <a:r>
              <a:rPr sz="1800" b="1">
                <a:solidFill>
                  <a:srgbClr val="16202E"/>
                </a:solidFill>
                <a:latin typeface="Arial"/>
              </a:rPr>
              <a:t>Lihat &amp; ekspor</a:t>
            </a:r>
          </a:p>
          <a:p>
            <a:pPr algn="l">
              <a:spcBef>
                <a:spcPts val="600"/>
              </a:spcBef>
            </a:pPr>
            <a:r>
              <a:rPr sz="1200" b="0">
                <a:solidFill>
                  <a:srgbClr val="4A5568"/>
                </a:solidFill>
                <a:latin typeface="Arial"/>
              </a:rPr>
              <a:t>Filter data, ekspor CSV, Excel, atau PDF</a:t>
            </a:r>
          </a:p>
        </p:txBody>
      </p:sp>
      <p:sp>
        <p:nvSpPr>
          <p:cNvPr id="10" name="Rounded Rectangle 9"/>
          <p:cNvSpPr/>
          <p:nvPr/>
        </p:nvSpPr>
        <p:spPr>
          <a:xfrm>
            <a:off x="812800" y="3962400"/>
            <a:ext cx="2336800" cy="1651000"/>
          </a:xfrm>
          <a:prstGeom prst="roundRect">
            <a:avLst>
              <a:gd name="adj" fmla="val 6153"/>
            </a:avLst>
          </a:prstGeom>
          <a:solidFill>
            <a:srgbClr val="F7F6F2"/>
          </a:solidFill>
          <a:ln w="12700">
            <a:solidFill>
              <a:srgbClr val="B4471F"/>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77800" bIns="177800"/>
          <a:lstStyle/>
          <a:p>
            <a:pPr algn="l">
              <a:spcBef>
                <a:spcPts val="0"/>
              </a:spcBef>
            </a:pPr>
            <a:r>
              <a:rPr sz="1200" b="1" spc="100">
                <a:solidFill>
                  <a:srgbClr val="B4471F"/>
                </a:solidFill>
                <a:latin typeface="Arial"/>
              </a:rPr>
              <a:t>DI SETIAP LANGKAH</a:t>
            </a:r>
          </a:p>
          <a:p>
            <a:pPr algn="l">
              <a:spcBef>
                <a:spcPts val="400"/>
              </a:spcBef>
            </a:pPr>
            <a:r>
              <a:rPr sz="1800" b="1">
                <a:solidFill>
                  <a:srgbClr val="16202E"/>
                </a:solidFill>
                <a:latin typeface="Arial"/>
              </a:rPr>
              <a:t>Panduan</a:t>
            </a:r>
          </a:p>
          <a:p>
            <a:pPr algn="l">
              <a:spcBef>
                <a:spcPts val="600"/>
              </a:spcBef>
            </a:pPr>
            <a:r>
              <a:rPr sz="1200" b="0">
                <a:solidFill>
                  <a:srgbClr val="4A5568"/>
                </a:solidFill>
                <a:latin typeface="Arial"/>
              </a:rPr>
              <a:t>Artikel dan video bernarasi sesuai peran</a:t>
            </a:r>
          </a:p>
        </p:txBody>
      </p:sp>
      <p:cxnSp>
        <p:nvCxnSpPr>
          <p:cNvPr id="11" name="Connector 10"/>
          <p:cNvCxnSpPr/>
          <p:nvPr/>
        </p:nvCxnSpPr>
        <p:spPr>
          <a:xfrm>
            <a:off x="3149600" y="2374900"/>
            <a:ext cx="4064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2800" y="2374900"/>
            <a:ext cx="4064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36000" y="2374900"/>
            <a:ext cx="4064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10800" y="3200400"/>
            <a:ext cx="0" cy="76200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636000" y="4787900"/>
            <a:ext cx="4064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892800" y="4787900"/>
            <a:ext cx="4064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18" name="TextBox 17"/>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Di balik layar: dua alur data</a:t>
            </a:r>
          </a:p>
        </p:txBody>
      </p:sp>
      <p:sp>
        <p:nvSpPr>
          <p:cNvPr id="3" name="TextBox 2"/>
          <p:cNvSpPr txBox="1"/>
          <p:nvPr/>
        </p:nvSpPr>
        <p:spPr>
          <a:xfrm>
            <a:off x="812800" y="1358900"/>
            <a:ext cx="10566400" cy="254000"/>
          </a:xfrm>
          <a:prstGeom prst="rect">
            <a:avLst/>
          </a:prstGeom>
          <a:noFill/>
        </p:spPr>
        <p:txBody>
          <a:bodyPr wrap="square" lIns="0" rIns="0" tIns="0" bIns="0">
            <a:spAutoFit/>
          </a:bodyPr>
          <a:lstStyle/>
          <a:p>
            <a:pPr algn="l">
              <a:spcBef>
                <a:spcPts val="0"/>
              </a:spcBef>
            </a:pPr>
            <a:r>
              <a:rPr sz="1400" b="1">
                <a:solidFill>
                  <a:srgbClr val="B4471F"/>
                </a:solidFill>
                <a:latin typeface="Arial"/>
              </a:rPr>
              <a:t>A · Unggah dan proses, berjalan di belakang layar</a:t>
            </a:r>
          </a:p>
        </p:txBody>
      </p:sp>
      <p:sp>
        <p:nvSpPr>
          <p:cNvPr id="4" name="TextBox 3"/>
          <p:cNvSpPr txBox="1"/>
          <p:nvPr/>
        </p:nvSpPr>
        <p:spPr>
          <a:xfrm>
            <a:off x="812800" y="3594100"/>
            <a:ext cx="10566400" cy="254000"/>
          </a:xfrm>
          <a:prstGeom prst="rect">
            <a:avLst/>
          </a:prstGeom>
          <a:noFill/>
        </p:spPr>
        <p:txBody>
          <a:bodyPr wrap="square" lIns="0" rIns="0" tIns="0" bIns="0">
            <a:spAutoFit/>
          </a:bodyPr>
          <a:lstStyle/>
          <a:p>
            <a:pPr algn="l">
              <a:spcBef>
                <a:spcPts val="0"/>
              </a:spcBef>
            </a:pPr>
            <a:r>
              <a:rPr sz="1400" b="1">
                <a:solidFill>
                  <a:srgbClr val="2457C5"/>
                </a:solidFill>
                <a:latin typeface="Arial"/>
              </a:rPr>
              <a:t>B · Pakai dashboard, interaktif</a:t>
            </a:r>
          </a:p>
        </p:txBody>
      </p:sp>
      <p:sp>
        <p:nvSpPr>
          <p:cNvPr id="5" name="Rounded Rectangle 4"/>
          <p:cNvSpPr/>
          <p:nvPr/>
        </p:nvSpPr>
        <p:spPr>
          <a:xfrm>
            <a:off x="812800" y="16891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Browser</a:t>
            </a:r>
          </a:p>
          <a:p>
            <a:pPr algn="l">
              <a:spcBef>
                <a:spcPts val="600"/>
              </a:spcBef>
            </a:pPr>
            <a:r>
              <a:rPr sz="1200" b="0">
                <a:solidFill>
                  <a:srgbClr val="4A5568"/>
                </a:solidFill>
                <a:latin typeface="Arial"/>
              </a:rPr>
              <a:t>File dikirim per bagian 16 MB langsung ke storage</a:t>
            </a:r>
          </a:p>
        </p:txBody>
      </p:sp>
      <p:sp>
        <p:nvSpPr>
          <p:cNvPr id="6" name="Rounded Rectangle 5"/>
          <p:cNvSpPr/>
          <p:nvPr/>
        </p:nvSpPr>
        <p:spPr>
          <a:xfrm>
            <a:off x="3009900" y="16891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Penyimpanan objek</a:t>
            </a:r>
          </a:p>
          <a:p>
            <a:pPr algn="l">
              <a:spcBef>
                <a:spcPts val="600"/>
              </a:spcBef>
            </a:pPr>
            <a:r>
              <a:rPr sz="1200" b="0">
                <a:solidFill>
                  <a:srgbClr val="4A5568"/>
                </a:solidFill>
                <a:latin typeface="Arial"/>
              </a:rPr>
              <a:t>RustFS (S3); unggahan bisa dilanjutkan</a:t>
            </a:r>
          </a:p>
        </p:txBody>
      </p:sp>
      <p:cxnSp>
        <p:nvCxnSpPr>
          <p:cNvPr id="7" name="Connector 6"/>
          <p:cNvCxnSpPr/>
          <p:nvPr/>
        </p:nvCxnSpPr>
        <p:spPr>
          <a:xfrm>
            <a:off x="2590800" y="2451100"/>
            <a:ext cx="419100" cy="0"/>
          </a:xfrm>
          <a:prstGeom prst="line">
            <a:avLst/>
          </a:prstGeom>
          <a:ln w="19050">
            <a:solidFill>
              <a:srgbClr val="B4471F"/>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207000" y="16891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Antrean</a:t>
            </a:r>
          </a:p>
          <a:p>
            <a:pPr algn="l">
              <a:spcBef>
                <a:spcPts val="600"/>
              </a:spcBef>
            </a:pPr>
            <a:r>
              <a:rPr sz="1200" b="0">
                <a:solidFill>
                  <a:srgbClr val="4A5568"/>
                </a:solidFill>
                <a:latin typeface="Arial"/>
              </a:rPr>
              <a:t>Redis + BullMQ; dua proses berjalan bersamaan</a:t>
            </a:r>
          </a:p>
        </p:txBody>
      </p:sp>
      <p:cxnSp>
        <p:nvCxnSpPr>
          <p:cNvPr id="9" name="Connector 8"/>
          <p:cNvCxnSpPr/>
          <p:nvPr/>
        </p:nvCxnSpPr>
        <p:spPr>
          <a:xfrm>
            <a:off x="4787900" y="2451100"/>
            <a:ext cx="419100" cy="0"/>
          </a:xfrm>
          <a:prstGeom prst="line">
            <a:avLst/>
          </a:prstGeom>
          <a:ln w="19050">
            <a:solidFill>
              <a:srgbClr val="B4471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404100" y="16891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Worker</a:t>
            </a:r>
          </a:p>
          <a:p>
            <a:pPr algn="l">
              <a:spcBef>
                <a:spcPts val="600"/>
              </a:spcBef>
            </a:pPr>
            <a:r>
              <a:rPr sz="1200" b="0">
                <a:solidFill>
                  <a:srgbClr val="4A5568"/>
                </a:solidFill>
                <a:latin typeface="Arial"/>
              </a:rPr>
              <a:t>Baca streaming, deteksi tipe kolom</a:t>
            </a:r>
          </a:p>
        </p:txBody>
      </p:sp>
      <p:cxnSp>
        <p:nvCxnSpPr>
          <p:cNvPr id="11" name="Connector 10"/>
          <p:cNvCxnSpPr/>
          <p:nvPr/>
        </p:nvCxnSpPr>
        <p:spPr>
          <a:xfrm>
            <a:off x="6985000" y="2451100"/>
            <a:ext cx="419100" cy="0"/>
          </a:xfrm>
          <a:prstGeom prst="line">
            <a:avLst/>
          </a:prstGeom>
          <a:ln w="19050">
            <a:solidFill>
              <a:srgbClr val="B4471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01200" y="16891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Parquet per sheet</a:t>
            </a:r>
          </a:p>
          <a:p>
            <a:pPr algn="l">
              <a:spcBef>
                <a:spcPts val="600"/>
              </a:spcBef>
            </a:pPr>
            <a:r>
              <a:rPr sz="1200" b="0">
                <a:solidFill>
                  <a:srgbClr val="4A5568"/>
                </a:solidFill>
                <a:latin typeface="Arial"/>
              </a:rPr>
              <a:t>Data kolumnar; metadata di PostgreSQL</a:t>
            </a:r>
          </a:p>
        </p:txBody>
      </p:sp>
      <p:cxnSp>
        <p:nvCxnSpPr>
          <p:cNvPr id="13" name="Connector 12"/>
          <p:cNvCxnSpPr/>
          <p:nvPr/>
        </p:nvCxnSpPr>
        <p:spPr>
          <a:xfrm>
            <a:off x="9182100" y="2451100"/>
            <a:ext cx="419100" cy="0"/>
          </a:xfrm>
          <a:prstGeom prst="line">
            <a:avLst/>
          </a:prstGeom>
          <a:ln w="19050">
            <a:solidFill>
              <a:srgbClr val="B4471F"/>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2800" y="39243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Browser</a:t>
            </a:r>
          </a:p>
          <a:p>
            <a:pPr algn="l">
              <a:spcBef>
                <a:spcPts val="600"/>
              </a:spcBef>
            </a:pPr>
            <a:r>
              <a:rPr sz="1200" b="0">
                <a:solidFill>
                  <a:srgbClr val="4A5568"/>
                </a:solidFill>
                <a:latin typeface="Arial"/>
              </a:rPr>
              <a:t>Pengguna memilih widget dan filter</a:t>
            </a:r>
          </a:p>
        </p:txBody>
      </p:sp>
      <p:sp>
        <p:nvSpPr>
          <p:cNvPr id="15" name="Rounded Rectangle 14"/>
          <p:cNvSpPr/>
          <p:nvPr/>
        </p:nvSpPr>
        <p:spPr>
          <a:xfrm>
            <a:off x="3009900" y="39243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Aplikasi</a:t>
            </a:r>
          </a:p>
          <a:p>
            <a:pPr algn="l">
              <a:spcBef>
                <a:spcPts val="600"/>
              </a:spcBef>
            </a:pPr>
            <a:r>
              <a:rPr sz="1200" b="0">
                <a:solidFill>
                  <a:srgbClr val="4A5568"/>
                </a:solidFill>
                <a:latin typeface="Arial"/>
              </a:rPr>
              <a:t>Next.js; hak akses dicek di setiap permintaan</a:t>
            </a:r>
          </a:p>
        </p:txBody>
      </p:sp>
      <p:cxnSp>
        <p:nvCxnSpPr>
          <p:cNvPr id="16" name="Connector 15"/>
          <p:cNvCxnSpPr/>
          <p:nvPr/>
        </p:nvCxnSpPr>
        <p:spPr>
          <a:xfrm>
            <a:off x="2590800" y="4686300"/>
            <a:ext cx="4191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207000" y="39243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DuckDB</a:t>
            </a:r>
          </a:p>
          <a:p>
            <a:pPr algn="l">
              <a:spcBef>
                <a:spcPts val="600"/>
              </a:spcBef>
            </a:pPr>
            <a:r>
              <a:rPr sz="1200" b="0">
                <a:solidFill>
                  <a:srgbClr val="4A5568"/>
                </a:solidFill>
                <a:latin typeface="Arial"/>
              </a:rPr>
              <a:t>Query deklaratif atas Parquet, dengan cache</a:t>
            </a:r>
          </a:p>
        </p:txBody>
      </p:sp>
      <p:cxnSp>
        <p:nvCxnSpPr>
          <p:cNvPr id="18" name="Connector 17"/>
          <p:cNvCxnSpPr/>
          <p:nvPr/>
        </p:nvCxnSpPr>
        <p:spPr>
          <a:xfrm>
            <a:off x="4787900" y="4686300"/>
            <a:ext cx="4191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4100" y="39243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Chart &amp; tabel</a:t>
            </a:r>
          </a:p>
          <a:p>
            <a:pPr algn="l">
              <a:spcBef>
                <a:spcPts val="600"/>
              </a:spcBef>
            </a:pPr>
            <a:r>
              <a:rPr sz="1200" b="0">
                <a:solidFill>
                  <a:srgbClr val="4A5568"/>
                </a:solidFill>
                <a:latin typeface="Arial"/>
              </a:rPr>
              <a:t>ECharts; p95 query 261 ms pada data 1 GB</a:t>
            </a:r>
          </a:p>
        </p:txBody>
      </p:sp>
      <p:cxnSp>
        <p:nvCxnSpPr>
          <p:cNvPr id="20" name="Connector 19"/>
          <p:cNvCxnSpPr/>
          <p:nvPr/>
        </p:nvCxnSpPr>
        <p:spPr>
          <a:xfrm>
            <a:off x="6985000" y="4686300"/>
            <a:ext cx="4191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01200" y="3924300"/>
            <a:ext cx="1778000" cy="1524000"/>
          </a:xfrm>
          <a:prstGeom prst="roundRect">
            <a:avLst>
              <a:gd name="adj" fmla="val 6666"/>
            </a:avLst>
          </a:prstGeom>
          <a:solidFill>
            <a:srgbClr val="FDFCFA"/>
          </a:solidFill>
          <a:ln w="12700">
            <a:solidFill>
              <a:srgbClr val="9DB0D3"/>
            </a:solidFill>
          </a:ln>
          <a:effectLst/>
        </p:spPr>
        <p:style>
          <a:lnRef idx="1">
            <a:schemeClr val="accent1"/>
          </a:lnRef>
          <a:fillRef idx="3">
            <a:schemeClr val="accent1"/>
          </a:fillRef>
          <a:effectRef idx="2">
            <a:schemeClr val="accent1"/>
          </a:effectRef>
          <a:fontRef idx="minor">
            <a:schemeClr val="lt1"/>
          </a:fontRef>
        </p:style>
        <p:txBody>
          <a:bodyPr rtlCol="0" anchor="t" wrap="square" lIns="152400" rIns="152400" tIns="152400" bIns="152400"/>
          <a:lstStyle/>
          <a:p>
            <a:pPr algn="l">
              <a:spcBef>
                <a:spcPts val="0"/>
              </a:spcBef>
            </a:pPr>
            <a:r>
              <a:rPr sz="1400" b="1">
                <a:solidFill>
                  <a:srgbClr val="16202E"/>
                </a:solidFill>
                <a:latin typeface="Arial"/>
              </a:rPr>
              <a:t>Ekspor</a:t>
            </a:r>
          </a:p>
          <a:p>
            <a:pPr algn="l">
              <a:spcBef>
                <a:spcPts val="600"/>
              </a:spcBef>
            </a:pPr>
            <a:r>
              <a:rPr sz="1200" b="0">
                <a:solidFill>
                  <a:srgbClr val="4A5568"/>
                </a:solidFill>
                <a:latin typeface="Arial"/>
              </a:rPr>
              <a:t>CSV, Excel, dan PDF lewat antrean</a:t>
            </a:r>
          </a:p>
        </p:txBody>
      </p:sp>
      <p:cxnSp>
        <p:nvCxnSpPr>
          <p:cNvPr id="22" name="Connector 21"/>
          <p:cNvCxnSpPr/>
          <p:nvPr/>
        </p:nvCxnSpPr>
        <p:spPr>
          <a:xfrm>
            <a:off x="9182100" y="4686300"/>
            <a:ext cx="419100" cy="0"/>
          </a:xfrm>
          <a:prstGeom prst="line">
            <a:avLst/>
          </a:prstGeom>
          <a:ln w="19050">
            <a:solidFill>
              <a:srgbClr val="2457C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24" name="TextBox 23"/>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Satu VM, delapan layanan Docker</a:t>
            </a:r>
          </a:p>
        </p:txBody>
      </p:sp>
      <p:sp>
        <p:nvSpPr>
          <p:cNvPr id="3" name="Rounded Rectangle 2"/>
          <p:cNvSpPr/>
          <p:nvPr/>
        </p:nvSpPr>
        <p:spPr>
          <a:xfrm>
            <a:off x="812800" y="17145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Proxy TLS</a:t>
            </a:r>
          </a:p>
          <a:p>
            <a:pPr algn="l">
              <a:spcBef>
                <a:spcPts val="600"/>
              </a:spcBef>
            </a:pPr>
            <a:r>
              <a:rPr sz="1400" b="0">
                <a:solidFill>
                  <a:srgbClr val="4A5568"/>
                </a:solidFill>
                <a:latin typeface="Arial"/>
              </a:rPr>
              <a:t>Caddy; satu-satunya pintu masuk dari jaringan.</a:t>
            </a:r>
          </a:p>
        </p:txBody>
      </p:sp>
      <p:sp>
        <p:nvSpPr>
          <p:cNvPr id="4" name="Rectangle 3"/>
          <p:cNvSpPr/>
          <p:nvPr/>
        </p:nvSpPr>
        <p:spPr>
          <a:xfrm>
            <a:off x="914400" y="1714500"/>
            <a:ext cx="2286000" cy="381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 name="Rounded Rectangle 4"/>
          <p:cNvSpPr/>
          <p:nvPr/>
        </p:nvSpPr>
        <p:spPr>
          <a:xfrm>
            <a:off x="3505200" y="17145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Aplikasi</a:t>
            </a:r>
          </a:p>
          <a:p>
            <a:pPr algn="l">
              <a:spcBef>
                <a:spcPts val="600"/>
              </a:spcBef>
            </a:pPr>
            <a:r>
              <a:rPr sz="1400" b="0">
                <a:solidFill>
                  <a:srgbClr val="4A5568"/>
                </a:solidFill>
                <a:latin typeface="Arial"/>
              </a:rPr>
              <a:t>Next.js 16: halaman, API, cek hak akses.</a:t>
            </a:r>
          </a:p>
        </p:txBody>
      </p:sp>
      <p:sp>
        <p:nvSpPr>
          <p:cNvPr id="6" name="Rectangle 5"/>
          <p:cNvSpPr/>
          <p:nvPr/>
        </p:nvSpPr>
        <p:spPr>
          <a:xfrm>
            <a:off x="3606800" y="1714500"/>
            <a:ext cx="2286000" cy="381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 name="Rounded Rectangle 6"/>
          <p:cNvSpPr/>
          <p:nvPr/>
        </p:nvSpPr>
        <p:spPr>
          <a:xfrm>
            <a:off x="6197600" y="17145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Worker × 2</a:t>
            </a:r>
          </a:p>
          <a:p>
            <a:pPr algn="l">
              <a:spcBef>
                <a:spcPts val="600"/>
              </a:spcBef>
            </a:pPr>
            <a:r>
              <a:rPr sz="1400" b="0">
                <a:solidFill>
                  <a:srgbClr val="4A5568"/>
                </a:solidFill>
                <a:latin typeface="Arial"/>
              </a:rPr>
              <a:t>Ingest file, ekspor, dan pembuatan PDF.</a:t>
            </a:r>
          </a:p>
        </p:txBody>
      </p:sp>
      <p:sp>
        <p:nvSpPr>
          <p:cNvPr id="8" name="Rectangle 7"/>
          <p:cNvSpPr/>
          <p:nvPr/>
        </p:nvSpPr>
        <p:spPr>
          <a:xfrm>
            <a:off x="6299200" y="1714500"/>
            <a:ext cx="2286000" cy="381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 name="Rounded Rectangle 8"/>
          <p:cNvSpPr/>
          <p:nvPr/>
        </p:nvSpPr>
        <p:spPr>
          <a:xfrm>
            <a:off x="8890000" y="17145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Renderer PDF</a:t>
            </a:r>
          </a:p>
          <a:p>
            <a:pPr algn="l">
              <a:spcBef>
                <a:spcPts val="600"/>
              </a:spcBef>
            </a:pPr>
            <a:r>
              <a:rPr sz="1400" b="0">
                <a:solidFill>
                  <a:srgbClr val="4A5568"/>
                </a:solidFill>
                <a:latin typeface="Arial"/>
              </a:rPr>
              <a:t>Chromium terisolasi, tanpa akses internet.</a:t>
            </a:r>
          </a:p>
        </p:txBody>
      </p:sp>
      <p:sp>
        <p:nvSpPr>
          <p:cNvPr id="10" name="Rectangle 9"/>
          <p:cNvSpPr/>
          <p:nvPr/>
        </p:nvSpPr>
        <p:spPr>
          <a:xfrm>
            <a:off x="8991600" y="1714500"/>
            <a:ext cx="2286000" cy="381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1" name="Rounded Rectangle 10"/>
          <p:cNvSpPr/>
          <p:nvPr/>
        </p:nvSpPr>
        <p:spPr>
          <a:xfrm>
            <a:off x="812800" y="34417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PostgreSQL</a:t>
            </a:r>
          </a:p>
          <a:p>
            <a:pPr algn="l">
              <a:spcBef>
                <a:spcPts val="600"/>
              </a:spcBef>
            </a:pPr>
            <a:r>
              <a:rPr sz="1400" b="0">
                <a:solidFill>
                  <a:srgbClr val="4A5568"/>
                </a:solidFill>
                <a:latin typeface="Arial"/>
              </a:rPr>
              <a:t>Metadata pengguna, dataset, dan dashboard.</a:t>
            </a:r>
          </a:p>
        </p:txBody>
      </p:sp>
      <p:sp>
        <p:nvSpPr>
          <p:cNvPr id="12" name="Rectangle 11"/>
          <p:cNvSpPr/>
          <p:nvPr/>
        </p:nvSpPr>
        <p:spPr>
          <a:xfrm>
            <a:off x="914400" y="3441700"/>
            <a:ext cx="2286000" cy="381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3" name="Rounded Rectangle 12"/>
          <p:cNvSpPr/>
          <p:nvPr/>
        </p:nvSpPr>
        <p:spPr>
          <a:xfrm>
            <a:off x="3505200" y="34417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Redis</a:t>
            </a:r>
          </a:p>
          <a:p>
            <a:pPr algn="l">
              <a:spcBef>
                <a:spcPts val="600"/>
              </a:spcBef>
            </a:pPr>
            <a:r>
              <a:rPr sz="1400" b="0">
                <a:solidFill>
                  <a:srgbClr val="4A5568"/>
                </a:solidFill>
                <a:latin typeface="Arial"/>
              </a:rPr>
              <a:t>Antrean job dan batas laju; bersandi.</a:t>
            </a:r>
          </a:p>
        </p:txBody>
      </p:sp>
      <p:sp>
        <p:nvSpPr>
          <p:cNvPr id="14" name="Rectangle 13"/>
          <p:cNvSpPr/>
          <p:nvPr/>
        </p:nvSpPr>
        <p:spPr>
          <a:xfrm>
            <a:off x="3606800" y="3441700"/>
            <a:ext cx="2286000" cy="381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5" name="Rounded Rectangle 14"/>
          <p:cNvSpPr/>
          <p:nvPr/>
        </p:nvSpPr>
        <p:spPr>
          <a:xfrm>
            <a:off x="6197600" y="34417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RustFS (S3)</a:t>
            </a:r>
          </a:p>
          <a:p>
            <a:pPr algn="l">
              <a:spcBef>
                <a:spcPts val="600"/>
              </a:spcBef>
            </a:pPr>
            <a:r>
              <a:rPr sz="1400" b="0">
                <a:solidFill>
                  <a:srgbClr val="4A5568"/>
                </a:solidFill>
                <a:latin typeface="Arial"/>
              </a:rPr>
              <a:t>File asli, Parquet, video, ekspor; akun per prefix.</a:t>
            </a:r>
          </a:p>
        </p:txBody>
      </p:sp>
      <p:sp>
        <p:nvSpPr>
          <p:cNvPr id="16" name="Rectangle 15"/>
          <p:cNvSpPr/>
          <p:nvPr/>
        </p:nvSpPr>
        <p:spPr>
          <a:xfrm>
            <a:off x="6299200" y="3441700"/>
            <a:ext cx="2286000" cy="381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7" name="Rounded Rectangle 16"/>
          <p:cNvSpPr/>
          <p:nvPr/>
        </p:nvSpPr>
        <p:spPr>
          <a:xfrm>
            <a:off x="8890000" y="3441700"/>
            <a:ext cx="2489200" cy="1524000"/>
          </a:xfrm>
          <a:prstGeom prst="roundRect">
            <a:avLst>
              <a:gd name="adj" fmla="val 6666"/>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Bef>
                <a:spcPts val="0"/>
              </a:spcBef>
            </a:pPr>
            <a:r>
              <a:rPr sz="1800" b="1">
                <a:solidFill>
                  <a:srgbClr val="16202E"/>
                </a:solidFill>
                <a:latin typeface="Arial"/>
              </a:rPr>
              <a:t>Backup</a:t>
            </a:r>
          </a:p>
          <a:p>
            <a:pPr algn="l">
              <a:spcBef>
                <a:spcPts val="600"/>
              </a:spcBef>
            </a:pPr>
            <a:r>
              <a:rPr sz="1400" b="0">
                <a:solidFill>
                  <a:srgbClr val="4A5568"/>
                </a:solidFill>
                <a:latin typeface="Arial"/>
              </a:rPr>
              <a:t>Harian, terenkripsi; uji restore lulus.</a:t>
            </a:r>
          </a:p>
        </p:txBody>
      </p:sp>
      <p:sp>
        <p:nvSpPr>
          <p:cNvPr id="18" name="Rectangle 17"/>
          <p:cNvSpPr/>
          <p:nvPr/>
        </p:nvSpPr>
        <p:spPr>
          <a:xfrm>
            <a:off x="8991600" y="3441700"/>
            <a:ext cx="2286000" cy="381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9" name="TextBox 18"/>
          <p:cNvSpPr txBox="1"/>
          <p:nvPr/>
        </p:nvSpPr>
        <p:spPr>
          <a:xfrm>
            <a:off x="812800" y="5270500"/>
            <a:ext cx="10566400" cy="285750"/>
          </a:xfrm>
          <a:prstGeom prst="rect">
            <a:avLst/>
          </a:prstGeom>
          <a:noFill/>
        </p:spPr>
        <p:txBody>
          <a:bodyPr wrap="square" lIns="0" rIns="0" tIns="0" bIns="0">
            <a:spAutoFit/>
          </a:bodyPr>
          <a:lstStyle/>
          <a:p>
            <a:pPr algn="l">
              <a:spcBef>
                <a:spcPts val="0"/>
              </a:spcBef>
            </a:pPr>
            <a:r>
              <a:rPr sz="1400" b="0">
                <a:solidFill>
                  <a:srgbClr val="2457C5"/>
                </a:solidFill>
                <a:latin typeface="Arial"/>
              </a:rPr>
              <a:t>Biru</a:t>
            </a:r>
            <a:r>
              <a:rPr sz="1400" b="0">
                <a:solidFill>
                  <a:srgbClr val="4A5568"/>
                </a:solidFill>
                <a:latin typeface="Arial"/>
              </a:rPr>
              <a:t>: memproses permintaan. </a:t>
            </a:r>
            <a:r>
              <a:rPr sz="1400" b="0">
                <a:solidFill>
                  <a:srgbClr val="B4471F"/>
                </a:solidFill>
                <a:latin typeface="Arial"/>
              </a:rPr>
              <a:t>Oranye</a:t>
            </a:r>
            <a:r>
              <a:rPr sz="1400" b="0">
                <a:solidFill>
                  <a:srgbClr val="4A5568"/>
                </a:solidFill>
                <a:latin typeface="Arial"/>
              </a:rPr>
              <a:t>: menyimpan data. Docker Compose di olympus, tanpa biaya lisensi.</a:t>
            </a:r>
          </a:p>
        </p:txBody>
      </p:sp>
      <p:sp>
        <p:nvSpPr>
          <p:cNvPr id="20" name="TextBox 19"/>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21" name="TextBox 20"/>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Capaian 11–18 Oktober 2026</a:t>
            </a:r>
          </a:p>
        </p:txBody>
      </p:sp>
      <p:sp>
        <p:nvSpPr>
          <p:cNvPr id="3" name="TextBox 2"/>
          <p:cNvSpPr txBox="1"/>
          <p:nvPr/>
        </p:nvSpPr>
        <p:spPr>
          <a:xfrm>
            <a:off x="812800" y="1587500"/>
            <a:ext cx="2489200" cy="825500"/>
          </a:xfrm>
          <a:prstGeom prst="rect">
            <a:avLst/>
          </a:prstGeom>
          <a:noFill/>
        </p:spPr>
        <p:txBody>
          <a:bodyPr wrap="square" lIns="0" rIns="0" tIns="0" bIns="0">
            <a:spAutoFit/>
          </a:bodyPr>
          <a:lstStyle/>
          <a:p>
            <a:pPr algn="l">
              <a:spcBef>
                <a:spcPts val="0"/>
              </a:spcBef>
            </a:pPr>
            <a:r>
              <a:rPr sz="5600" b="1">
                <a:solidFill>
                  <a:srgbClr val="2457C5"/>
                </a:solidFill>
                <a:latin typeface="Arial"/>
              </a:rPr>
              <a:t>51</a:t>
            </a:r>
          </a:p>
        </p:txBody>
      </p:sp>
      <p:sp>
        <p:nvSpPr>
          <p:cNvPr id="4" name="TextBox 3"/>
          <p:cNvSpPr txBox="1"/>
          <p:nvPr/>
        </p:nvSpPr>
        <p:spPr>
          <a:xfrm>
            <a:off x="812800" y="2444750"/>
            <a:ext cx="2489200" cy="508000"/>
          </a:xfrm>
          <a:prstGeom prst="rect">
            <a:avLst/>
          </a:prstGeom>
          <a:noFill/>
        </p:spPr>
        <p:txBody>
          <a:bodyPr wrap="square" lIns="0" rIns="0" tIns="0" bIns="0">
            <a:spAutoFit/>
          </a:bodyPr>
          <a:lstStyle/>
          <a:p>
            <a:pPr algn="l">
              <a:spcBef>
                <a:spcPts val="0"/>
              </a:spcBef>
            </a:pPr>
            <a:r>
              <a:rPr sz="1400" b="0">
                <a:solidFill>
                  <a:srgbClr val="4A5568"/>
                </a:solidFill>
                <a:latin typeface="Arial"/>
              </a:rPr>
              <a:t>task selesai, masing-masing direview</a:t>
            </a:r>
          </a:p>
        </p:txBody>
      </p:sp>
      <p:sp>
        <p:nvSpPr>
          <p:cNvPr id="5" name="TextBox 4"/>
          <p:cNvSpPr txBox="1"/>
          <p:nvPr/>
        </p:nvSpPr>
        <p:spPr>
          <a:xfrm>
            <a:off x="3505200" y="1587500"/>
            <a:ext cx="2489200" cy="825500"/>
          </a:xfrm>
          <a:prstGeom prst="rect">
            <a:avLst/>
          </a:prstGeom>
          <a:noFill/>
        </p:spPr>
        <p:txBody>
          <a:bodyPr wrap="square" lIns="0" rIns="0" tIns="0" bIns="0">
            <a:spAutoFit/>
          </a:bodyPr>
          <a:lstStyle/>
          <a:p>
            <a:pPr algn="l">
              <a:spcBef>
                <a:spcPts val="0"/>
              </a:spcBef>
            </a:pPr>
            <a:r>
              <a:rPr sz="5600" b="1">
                <a:solidFill>
                  <a:srgbClr val="2457C5"/>
                </a:solidFill>
                <a:latin typeface="Arial"/>
              </a:rPr>
              <a:t>340</a:t>
            </a:r>
          </a:p>
        </p:txBody>
      </p:sp>
      <p:sp>
        <p:nvSpPr>
          <p:cNvPr id="6" name="TextBox 5"/>
          <p:cNvSpPr txBox="1"/>
          <p:nvPr/>
        </p:nvSpPr>
        <p:spPr>
          <a:xfrm>
            <a:off x="3505200" y="2444750"/>
            <a:ext cx="2489200" cy="508000"/>
          </a:xfrm>
          <a:prstGeom prst="rect">
            <a:avLst/>
          </a:prstGeom>
          <a:noFill/>
        </p:spPr>
        <p:txBody>
          <a:bodyPr wrap="square" lIns="0" rIns="0" tIns="0" bIns="0">
            <a:spAutoFit/>
          </a:bodyPr>
          <a:lstStyle/>
          <a:p>
            <a:pPr algn="l">
              <a:spcBef>
                <a:spcPts val="0"/>
              </a:spcBef>
            </a:pPr>
            <a:r>
              <a:rPr sz="1400" b="0">
                <a:solidFill>
                  <a:srgbClr val="4A5568"/>
                </a:solidFill>
                <a:latin typeface="Arial"/>
              </a:rPr>
              <a:t>commit di repositori privat</a:t>
            </a:r>
          </a:p>
        </p:txBody>
      </p:sp>
      <p:sp>
        <p:nvSpPr>
          <p:cNvPr id="7" name="TextBox 6"/>
          <p:cNvSpPr txBox="1"/>
          <p:nvPr/>
        </p:nvSpPr>
        <p:spPr>
          <a:xfrm>
            <a:off x="6197600" y="1587500"/>
            <a:ext cx="2489200" cy="825500"/>
          </a:xfrm>
          <a:prstGeom prst="rect">
            <a:avLst/>
          </a:prstGeom>
          <a:noFill/>
        </p:spPr>
        <p:txBody>
          <a:bodyPr wrap="square" lIns="0" rIns="0" tIns="0" bIns="0">
            <a:spAutoFit/>
          </a:bodyPr>
          <a:lstStyle/>
          <a:p>
            <a:pPr algn="l">
              <a:spcBef>
                <a:spcPts val="0"/>
              </a:spcBef>
            </a:pPr>
            <a:r>
              <a:rPr sz="5600" b="1">
                <a:solidFill>
                  <a:srgbClr val="2457C5"/>
                </a:solidFill>
                <a:latin typeface="Arial"/>
              </a:rPr>
              <a:t>1.856</a:t>
            </a:r>
          </a:p>
        </p:txBody>
      </p:sp>
      <p:sp>
        <p:nvSpPr>
          <p:cNvPr id="8" name="TextBox 7"/>
          <p:cNvSpPr txBox="1"/>
          <p:nvPr/>
        </p:nvSpPr>
        <p:spPr>
          <a:xfrm>
            <a:off x="6197600" y="2444750"/>
            <a:ext cx="2489200" cy="508000"/>
          </a:xfrm>
          <a:prstGeom prst="rect">
            <a:avLst/>
          </a:prstGeom>
          <a:noFill/>
        </p:spPr>
        <p:txBody>
          <a:bodyPr wrap="square" lIns="0" rIns="0" tIns="0" bIns="0">
            <a:spAutoFit/>
          </a:bodyPr>
          <a:lstStyle/>
          <a:p>
            <a:pPr algn="l">
              <a:spcBef>
                <a:spcPts val="0"/>
              </a:spcBef>
            </a:pPr>
            <a:r>
              <a:rPr sz="1400" b="0">
                <a:solidFill>
                  <a:srgbClr val="4A5568"/>
                </a:solidFill>
                <a:latin typeface="Arial"/>
              </a:rPr>
              <a:t>tes otomatis, semuanya lolos</a:t>
            </a:r>
          </a:p>
        </p:txBody>
      </p:sp>
      <p:sp>
        <p:nvSpPr>
          <p:cNvPr id="9" name="TextBox 8"/>
          <p:cNvSpPr txBox="1"/>
          <p:nvPr/>
        </p:nvSpPr>
        <p:spPr>
          <a:xfrm>
            <a:off x="8890000" y="1587500"/>
            <a:ext cx="2489200" cy="825500"/>
          </a:xfrm>
          <a:prstGeom prst="rect">
            <a:avLst/>
          </a:prstGeom>
          <a:noFill/>
        </p:spPr>
        <p:txBody>
          <a:bodyPr wrap="square" lIns="0" rIns="0" tIns="0" bIns="0">
            <a:spAutoFit/>
          </a:bodyPr>
          <a:lstStyle/>
          <a:p>
            <a:pPr algn="l">
              <a:spcBef>
                <a:spcPts val="0"/>
              </a:spcBef>
            </a:pPr>
            <a:r>
              <a:rPr sz="5600" b="1">
                <a:solidFill>
                  <a:srgbClr val="2457C5"/>
                </a:solidFill>
                <a:latin typeface="Arial"/>
              </a:rPr>
              <a:t>8</a:t>
            </a:r>
          </a:p>
        </p:txBody>
      </p:sp>
      <p:sp>
        <p:nvSpPr>
          <p:cNvPr id="10" name="TextBox 9"/>
          <p:cNvSpPr txBox="1"/>
          <p:nvPr/>
        </p:nvSpPr>
        <p:spPr>
          <a:xfrm>
            <a:off x="8890000" y="2444750"/>
            <a:ext cx="2489200" cy="508000"/>
          </a:xfrm>
          <a:prstGeom prst="rect">
            <a:avLst/>
          </a:prstGeom>
          <a:noFill/>
        </p:spPr>
        <p:txBody>
          <a:bodyPr wrap="square" lIns="0" rIns="0" tIns="0" bIns="0">
            <a:spAutoFit/>
          </a:bodyPr>
          <a:lstStyle/>
          <a:p>
            <a:pPr algn="l">
              <a:spcBef>
                <a:spcPts val="0"/>
              </a:spcBef>
            </a:pPr>
            <a:r>
              <a:rPr sz="1400" b="0">
                <a:solidFill>
                  <a:srgbClr val="4A5568"/>
                </a:solidFill>
                <a:latin typeface="Arial"/>
              </a:rPr>
              <a:t>keputusan arsitektur tercatat (ADR)</a:t>
            </a:r>
          </a:p>
        </p:txBody>
      </p:sp>
      <p:graphicFrame>
        <p:nvGraphicFramePr>
          <p:cNvPr id="11" name="Table 10"/>
          <p:cNvGraphicFramePr>
            <a:graphicFrameLocks noGrp="1"/>
          </p:cNvGraphicFramePr>
          <p:nvPr/>
        </p:nvGraphicFramePr>
        <p:xfrm>
          <a:off x="812800" y="3175000"/>
          <a:ext cx="10566400" cy="2438400"/>
        </p:xfrm>
        <a:graphic>
          <a:graphicData uri="http://schemas.openxmlformats.org/drawingml/2006/table">
            <a:tbl>
              <a:tblPr firstRow="1" bandRow="1">
                <a:tableStyleId>{5C22544A-7EE6-4342-B048-85BDC9FD1C3A}</a:tableStyleId>
              </a:tblPr>
              <a:tblGrid>
                <a:gridCol w="2747264"/>
                <a:gridCol w="2324608"/>
                <a:gridCol w="5494528"/>
              </a:tblGrid>
              <a:tr h="406400">
                <a:tc>
                  <a:txBody>
                    <a:bodyPr wrap="square"/>
                    <a:lstStyle/>
                    <a:p>
                      <a:pPr algn="l">
                        <a:spcBef>
                          <a:spcPts val="0"/>
                        </a:spcBef>
                      </a:pPr>
                      <a:r>
                        <a:rPr sz="1400" b="1">
                          <a:solidFill>
                            <a:srgbClr val="4A5568"/>
                          </a:solidFill>
                          <a:latin typeface="Arial"/>
                        </a:rPr>
                        <a:t>Sasaran</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Status</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Isi</a:t>
                      </a:r>
                    </a:p>
                  </a:txBody>
                  <a:tcPr marL="101600" marR="101600" anchor="ctr">
                    <a:solidFill>
                      <a:srgbClr val="EEF1F6"/>
                    </a:solidFill>
                  </a:tcPr>
                </a:tc>
              </a:tr>
              <a:tr h="406400">
                <a:tc>
                  <a:txBody>
                    <a:bodyPr wrap="square"/>
                    <a:lstStyle/>
                    <a:p>
                      <a:pPr algn="l">
                        <a:spcBef>
                          <a:spcPts val="0"/>
                        </a:spcBef>
                      </a:pPr>
                      <a:r>
                        <a:rPr sz="1400" b="0">
                          <a:solidFill>
                            <a:srgbClr val="16202E"/>
                          </a:solidFill>
                          <a:latin typeface="Arial"/>
                        </a:rPr>
                        <a:t>Fondasi dan akses</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Selesai, 7 dari 7</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Registrasi terbatas domain, profil dataset</a:t>
                      </a:r>
                    </a:p>
                  </a:txBody>
                  <a:tcPr marL="101600" marR="101600" anchor="ctr">
                    <a:solidFill>
                      <a:srgbClr val="FDFCFA"/>
                    </a:solidFill>
                  </a:tcPr>
                </a:tc>
              </a:tr>
              <a:tr h="406400">
                <a:tc>
                  <a:txBody>
                    <a:bodyPr wrap="square"/>
                    <a:lstStyle/>
                    <a:p>
                      <a:pPr algn="l">
                        <a:spcBef>
                          <a:spcPts val="0"/>
                        </a:spcBef>
                      </a:pPr>
                      <a:r>
                        <a:rPr sz="1400" b="0">
                          <a:solidFill>
                            <a:srgbClr val="16202E"/>
                          </a:solidFill>
                          <a:latin typeface="Arial"/>
                        </a:rPr>
                        <a:t>Pipeline data</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Selesai, 7 dari 7</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Unggah 1 GB, ingest streaming ke Parquet, skema</a:t>
                      </a:r>
                    </a:p>
                  </a:txBody>
                  <a:tcPr marL="101600" marR="101600" anchor="ctr">
                    <a:solidFill>
                      <a:srgbClr val="FDFCFA"/>
                    </a:solidFill>
                  </a:tcPr>
                </a:tc>
              </a:tr>
              <a:tr h="406400">
                <a:tc>
                  <a:txBody>
                    <a:bodyPr wrap="square"/>
                    <a:lstStyle/>
                    <a:p>
                      <a:pPr algn="l">
                        <a:spcBef>
                          <a:spcPts val="0"/>
                        </a:spcBef>
                      </a:pPr>
                      <a:r>
                        <a:rPr sz="1400" b="0">
                          <a:solidFill>
                            <a:srgbClr val="16202E"/>
                          </a:solidFill>
                          <a:latin typeface="Arial"/>
                        </a:rPr>
                        <a:t>Pembuat dashboard</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Selesai, 12 dari 12</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Widget, chart, filter, berbagi, ekspor</a:t>
                      </a:r>
                    </a:p>
                  </a:txBody>
                  <a:tcPr marL="101600" marR="101600" anchor="ctr">
                    <a:solidFill>
                      <a:srgbClr val="FDFCFA"/>
                    </a:solidFill>
                  </a:tcPr>
                </a:tc>
              </a:tr>
              <a:tr h="406400">
                <a:tc>
                  <a:txBody>
                    <a:bodyPr wrap="square"/>
                    <a:lstStyle/>
                    <a:p>
                      <a:pPr algn="l">
                        <a:spcBef>
                          <a:spcPts val="0"/>
                        </a:spcBef>
                      </a:pPr>
                      <a:r>
                        <a:rPr sz="1400" b="0">
                          <a:solidFill>
                            <a:srgbClr val="16202E"/>
                          </a:solidFill>
                          <a:latin typeface="Arial"/>
                        </a:rPr>
                        <a:t>Operasional</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3 dari 5</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Produksi berjalan; backup off-VM dan VM SSD menunggu</a:t>
                      </a:r>
                    </a:p>
                  </a:txBody>
                  <a:tcPr marL="101600" marR="101600" anchor="ctr">
                    <a:solidFill>
                      <a:srgbClr val="FDFCFA"/>
                    </a:solidFill>
                  </a:tcPr>
                </a:tc>
              </a:tr>
              <a:tr h="406400">
                <a:tc>
                  <a:txBody>
                    <a:bodyPr wrap="square"/>
                    <a:lstStyle/>
                    <a:p>
                      <a:pPr algn="l">
                        <a:spcBef>
                          <a:spcPts val="0"/>
                        </a:spcBef>
                      </a:pPr>
                      <a:r>
                        <a:rPr sz="1400" b="0">
                          <a:solidFill>
                            <a:srgbClr val="16202E"/>
                          </a:solidFill>
                          <a:latin typeface="Arial"/>
                        </a:rPr>
                        <a:t>Lihat data dan periode</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Rencana, 1 dari 31</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Tampilan gaya Excel, data per periode</a:t>
                      </a:r>
                    </a:p>
                  </a:txBody>
                  <a:tcPr marL="101600" marR="101600" anchor="ctr">
                    <a:solidFill>
                      <a:srgbClr val="FDFCFA"/>
                    </a:solidFill>
                  </a:tcPr>
                </a:tc>
              </a:tr>
            </a:tbl>
          </a:graphicData>
        </a:graphic>
      </p:graphicFrame>
      <p:sp>
        <p:nvSpPr>
          <p:cNvPr id="12" name="TextBox 11"/>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13" name="TextBox 12"/>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Panduan: 9 video bernarasi per peran</a:t>
            </a:r>
          </a:p>
        </p:txBody>
      </p:sp>
      <p:graphicFrame>
        <p:nvGraphicFramePr>
          <p:cNvPr id="3" name="Table 2"/>
          <p:cNvGraphicFramePr>
            <a:graphicFrameLocks noGrp="1"/>
          </p:cNvGraphicFramePr>
          <p:nvPr/>
        </p:nvGraphicFramePr>
        <p:xfrm>
          <a:off x="812800" y="1714500"/>
          <a:ext cx="6096000" cy="2971800"/>
        </p:xfrm>
        <a:graphic>
          <a:graphicData uri="http://schemas.openxmlformats.org/drawingml/2006/table">
            <a:tbl>
              <a:tblPr firstRow="1" bandRow="1">
                <a:tableStyleId>{5C22544A-7EE6-4342-B048-85BDC9FD1C3A}</a:tableStyleId>
              </a:tblPr>
              <a:tblGrid>
                <a:gridCol w="1706880"/>
                <a:gridCol w="3169920"/>
                <a:gridCol w="1219200"/>
              </a:tblGrid>
              <a:tr h="495300">
                <a:tc>
                  <a:txBody>
                    <a:bodyPr wrap="square"/>
                    <a:lstStyle/>
                    <a:p>
                      <a:pPr algn="l">
                        <a:spcBef>
                          <a:spcPts val="0"/>
                        </a:spcBef>
                      </a:pPr>
                      <a:r>
                        <a:rPr sz="1400" b="1">
                          <a:solidFill>
                            <a:srgbClr val="4A5568"/>
                          </a:solidFill>
                          <a:latin typeface="Arial"/>
                        </a:rPr>
                        <a:t>Peran</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Video</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Durasi</a:t>
                      </a:r>
                    </a:p>
                  </a:txBody>
                  <a:tcPr marL="101600" marR="101600" anchor="ctr">
                    <a:solidFill>
                      <a:srgbClr val="EEF1F6"/>
                    </a:solidFill>
                  </a:tcPr>
                </a:tc>
              </a:tr>
              <a:tr h="495300">
                <a:tc>
                  <a:txBody>
                    <a:bodyPr wrap="square"/>
                    <a:lstStyle/>
                    <a:p>
                      <a:pPr algn="l">
                        <a:spcBef>
                          <a:spcPts val="0"/>
                        </a:spcBef>
                      </a:pPr>
                      <a:r>
                        <a:rPr sz="1400" b="0">
                          <a:solidFill>
                            <a:srgbClr val="16202E"/>
                          </a:solidFill>
                          <a:latin typeface="Arial"/>
                        </a:rPr>
                        <a:t>Pemilik data</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Unggah, skema, dashboard, bagikan</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35–74 dtk</a:t>
                      </a:r>
                    </a:p>
                  </a:txBody>
                  <a:tcPr marL="101600" marR="101600" anchor="ctr">
                    <a:solidFill>
                      <a:srgbClr val="FDFCFA"/>
                    </a:solidFill>
                  </a:tcPr>
                </a:tc>
              </a:tr>
              <a:tr h="495300">
                <a:tc>
                  <a:txBody>
                    <a:bodyPr wrap="square"/>
                    <a:lstStyle/>
                    <a:p>
                      <a:pPr algn="l">
                        <a:spcBef>
                          <a:spcPts val="0"/>
                        </a:spcBef>
                      </a:pPr>
                      <a:r>
                        <a:rPr sz="1400" b="0">
                          <a:solidFill>
                            <a:srgbClr val="16202E"/>
                          </a:solidFill>
                          <a:latin typeface="Arial"/>
                        </a:rPr>
                        <a:t>Editor</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Mengubah dashboard</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28 dtk</a:t>
                      </a:r>
                    </a:p>
                  </a:txBody>
                  <a:tcPr marL="101600" marR="101600" anchor="ctr">
                    <a:solidFill>
                      <a:srgbClr val="FDFCFA"/>
                    </a:solidFill>
                  </a:tcPr>
                </a:tc>
              </a:tr>
              <a:tr h="495300">
                <a:tc>
                  <a:txBody>
                    <a:bodyPr wrap="square"/>
                    <a:lstStyle/>
                    <a:p>
                      <a:pPr algn="l">
                        <a:spcBef>
                          <a:spcPts val="0"/>
                        </a:spcBef>
                      </a:pPr>
                      <a:r>
                        <a:rPr sz="1400" b="0">
                          <a:solidFill>
                            <a:srgbClr val="16202E"/>
                          </a:solidFill>
                          <a:latin typeface="Arial"/>
                        </a:rPr>
                        <a:t>Viewer</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Memakai filter dan mengekspor</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35 dtk</a:t>
                      </a:r>
                    </a:p>
                  </a:txBody>
                  <a:tcPr marL="101600" marR="101600" anchor="ctr">
                    <a:solidFill>
                      <a:srgbClr val="FDFCFA"/>
                    </a:solidFill>
                  </a:tcPr>
                </a:tc>
              </a:tr>
              <a:tr h="495300">
                <a:tc>
                  <a:txBody>
                    <a:bodyPr wrap="square"/>
                    <a:lstStyle/>
                    <a:p>
                      <a:pPr algn="l">
                        <a:spcBef>
                          <a:spcPts val="0"/>
                        </a:spcBef>
                      </a:pPr>
                      <a:r>
                        <a:rPr sz="1400" b="0">
                          <a:solidFill>
                            <a:srgbClr val="16202E"/>
                          </a:solidFill>
                          <a:latin typeface="Arial"/>
                        </a:rPr>
                        <a:t>Admin</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Kelola pengguna, tulis panduan</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27–43 dtk</a:t>
                      </a:r>
                    </a:p>
                  </a:txBody>
                  <a:tcPr marL="101600" marR="101600" anchor="ctr">
                    <a:solidFill>
                      <a:srgbClr val="FDFCFA"/>
                    </a:solidFill>
                  </a:tcPr>
                </a:tc>
              </a:tr>
              <a:tr h="495300">
                <a:tc>
                  <a:txBody>
                    <a:bodyPr wrap="square"/>
                    <a:lstStyle/>
                    <a:p>
                      <a:pPr algn="l">
                        <a:spcBef>
                          <a:spcPts val="0"/>
                        </a:spcBef>
                      </a:pPr>
                      <a:r>
                        <a:rPr sz="1400" b="0">
                          <a:solidFill>
                            <a:srgbClr val="16202E"/>
                          </a:solidFill>
                          <a:latin typeface="Arial"/>
                        </a:rPr>
                        <a:t>Semua peran</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Masuk dan mengenal menu</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38 dtk</a:t>
                      </a:r>
                    </a:p>
                  </a:txBody>
                  <a:tcPr marL="101600" marR="101600" anchor="ctr">
                    <a:solidFill>
                      <a:srgbClr val="FDFCFA"/>
                    </a:solidFill>
                  </a:tcPr>
                </a:tc>
              </a:tr>
            </a:tbl>
          </a:graphicData>
        </a:graphic>
      </p:graphicFrame>
      <p:sp>
        <p:nvSpPr>
          <p:cNvPr id="4" name="Rounded Rectangle 3"/>
          <p:cNvSpPr/>
          <p:nvPr/>
        </p:nvSpPr>
        <p:spPr>
          <a:xfrm>
            <a:off x="7213600" y="1714500"/>
            <a:ext cx="4165600" cy="2984500"/>
          </a:xfrm>
          <a:prstGeom prst="roundRect">
            <a:avLst>
              <a:gd name="adj" fmla="val 3404"/>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Setiap video</a:t>
            </a:r>
          </a:p>
          <a:p>
            <a:pPr algn="l">
              <a:spcBef>
                <a:spcPts val="1000"/>
              </a:spcBef>
            </a:pPr>
            <a:r>
              <a:rPr sz="1400" b="0">
                <a:solidFill>
                  <a:srgbClr val="4A5568"/>
                </a:solidFill>
                <a:latin typeface="Arial"/>
              </a:rPr>
              <a:t>•  Suara narator bahasa Indonesia, satu suara konsisten</a:t>
            </a:r>
          </a:p>
          <a:p>
            <a:pPr algn="l">
              <a:spcBef>
                <a:spcPts val="1000"/>
              </a:spcBef>
            </a:pPr>
            <a:r>
              <a:rPr sz="1400" b="0">
                <a:solidFill>
                  <a:srgbClr val="4A5568"/>
                </a:solidFill>
                <a:latin typeface="Arial"/>
              </a:rPr>
              <a:t>•  Takarir untuk ditonton tanpa suara</a:t>
            </a:r>
          </a:p>
          <a:p>
            <a:pPr algn="l">
              <a:spcBef>
                <a:spcPts val="1000"/>
              </a:spcBef>
            </a:pPr>
            <a:r>
              <a:rPr sz="1400" b="0">
                <a:solidFill>
                  <a:srgbClr val="4A5568"/>
                </a:solidFill>
                <a:latin typeface="Arial"/>
              </a:rPr>
              <a:t>•  Sesuai tampilan terbaru, dicek per frame</a:t>
            </a:r>
          </a:p>
          <a:p>
            <a:pPr algn="l">
              <a:spcBef>
                <a:spcPts val="1000"/>
              </a:spcBef>
            </a:pPr>
            <a:r>
              <a:rPr sz="1400" b="0">
                <a:solidFill>
                  <a:srgbClr val="4A5568"/>
                </a:solidFill>
                <a:latin typeface="Arial"/>
              </a:rPr>
              <a:t>•  Di produksi: 9 dari 9 file identik</a:t>
            </a:r>
          </a:p>
        </p:txBody>
      </p:sp>
      <p:sp>
        <p:nvSpPr>
          <p:cNvPr id="5" name="TextBox 4"/>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6" name="TextBox 5"/>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Keamanan dan operasi</a:t>
            </a:r>
          </a:p>
        </p:txBody>
      </p:sp>
      <p:sp>
        <p:nvSpPr>
          <p:cNvPr id="3" name="Rounded Rectangle 2"/>
          <p:cNvSpPr/>
          <p:nvPr/>
        </p:nvSpPr>
        <p:spPr>
          <a:xfrm>
            <a:off x="81280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Akses terbatas</a:t>
            </a:r>
          </a:p>
          <a:p>
            <a:pPr algn="l">
              <a:spcBef>
                <a:spcPts val="600"/>
              </a:spcBef>
            </a:pPr>
            <a:r>
              <a:rPr sz="1400" b="0">
                <a:solidFill>
                  <a:srgbClr val="4A5568"/>
                </a:solidFill>
                <a:latin typeface="Arial"/>
              </a:rPr>
              <a:t>Hanya email domain perusahaan, wajib verifikasi.</a:t>
            </a:r>
          </a:p>
        </p:txBody>
      </p:sp>
      <p:sp>
        <p:nvSpPr>
          <p:cNvPr id="4" name="Rounded Rectangle 3"/>
          <p:cNvSpPr/>
          <p:nvPr/>
        </p:nvSpPr>
        <p:spPr>
          <a:xfrm>
            <a:off x="440055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Hak akses</a:t>
            </a:r>
          </a:p>
          <a:p>
            <a:pPr algn="l">
              <a:spcBef>
                <a:spcPts val="600"/>
              </a:spcBef>
            </a:pPr>
            <a:r>
              <a:rPr sz="1400" b="0">
                <a:solidFill>
                  <a:srgbClr val="4A5568"/>
                </a:solidFill>
                <a:latin typeface="Arial"/>
              </a:rPr>
              <a:t>Dicek di server; data yang tidak boleh dilihat selalu tampil “tidak ditemukan”.</a:t>
            </a:r>
          </a:p>
        </p:txBody>
      </p:sp>
      <p:sp>
        <p:nvSpPr>
          <p:cNvPr id="5" name="Rounded Rectangle 4"/>
          <p:cNvSpPr/>
          <p:nvPr/>
        </p:nvSpPr>
        <p:spPr>
          <a:xfrm>
            <a:off x="7988300" y="1714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Batas wajar</a:t>
            </a:r>
          </a:p>
          <a:p>
            <a:pPr algn="l">
              <a:spcBef>
                <a:spcPts val="600"/>
              </a:spcBef>
            </a:pPr>
            <a:r>
              <a:rPr sz="1400" b="0">
                <a:solidFill>
                  <a:srgbClr val="4A5568"/>
                </a:solidFill>
                <a:latin typeface="Arial"/>
              </a:rPr>
              <a:t>Batas laju login dan unggah, kuota 20 GiB per pengguna.</a:t>
            </a:r>
          </a:p>
        </p:txBody>
      </p:sp>
      <p:sp>
        <p:nvSpPr>
          <p:cNvPr id="6" name="Rounded Rectangle 5"/>
          <p:cNvSpPr/>
          <p:nvPr/>
        </p:nvSpPr>
        <p:spPr>
          <a:xfrm>
            <a:off x="81280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Jaringan tertutup</a:t>
            </a:r>
          </a:p>
          <a:p>
            <a:pPr algn="l">
              <a:spcBef>
                <a:spcPts val="600"/>
              </a:spcBef>
            </a:pPr>
            <a:r>
              <a:rPr sz="1400" b="0">
                <a:solidFill>
                  <a:srgbClr val="4A5568"/>
                </a:solidFill>
                <a:latin typeface="Arial"/>
              </a:rPr>
              <a:t>Hanya proxy membuka port; renderer tanpa internet.</a:t>
            </a:r>
          </a:p>
        </p:txBody>
      </p:sp>
      <p:sp>
        <p:nvSpPr>
          <p:cNvPr id="7" name="Rounded Rectangle 6"/>
          <p:cNvSpPr/>
          <p:nvPr/>
        </p:nvSpPr>
        <p:spPr>
          <a:xfrm>
            <a:off x="440055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Backup teruji</a:t>
            </a:r>
          </a:p>
          <a:p>
            <a:pPr algn="l">
              <a:spcBef>
                <a:spcPts val="600"/>
              </a:spcBef>
            </a:pPr>
            <a:r>
              <a:rPr sz="1400" b="0">
                <a:solidFill>
                  <a:srgbClr val="4A5568"/>
                </a:solidFill>
                <a:latin typeface="Arial"/>
              </a:rPr>
              <a:t>Harian, terenkripsi, retensi 30 hari; latihan restore lulus.</a:t>
            </a:r>
          </a:p>
        </p:txBody>
      </p:sp>
      <p:sp>
        <p:nvSpPr>
          <p:cNvPr id="8" name="Rounded Rectangle 7"/>
          <p:cNvSpPr/>
          <p:nvPr/>
        </p:nvSpPr>
        <p:spPr>
          <a:xfrm>
            <a:off x="7988300" y="3619500"/>
            <a:ext cx="3384550" cy="1714500"/>
          </a:xfrm>
          <a:prstGeom prst="roundRect">
            <a:avLst>
              <a:gd name="adj" fmla="val 5925"/>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Review berlapis</a:t>
            </a:r>
          </a:p>
          <a:p>
            <a:pPr algn="l">
              <a:spcBef>
                <a:spcPts val="600"/>
              </a:spcBef>
            </a:pPr>
            <a:r>
              <a:rPr sz="1400" b="0">
                <a:solidFill>
                  <a:srgbClr val="4A5568"/>
                </a:solidFill>
                <a:latin typeface="Arial"/>
              </a:rPr>
              <a:t>Daftar periksa OWASP per task, review independen, audit dependensi.</a:t>
            </a:r>
          </a:p>
        </p:txBody>
      </p:sp>
      <p:sp>
        <p:nvSpPr>
          <p:cNvPr id="9" name="TextBox 8"/>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10" name="TextBox 9"/>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457C5"/>
        </a:solidFill>
        <a:effectLst/>
      </p:bgPr>
    </p:bg>
    <p:spTree>
      <p:nvGrpSpPr>
        <p:cNvPr id="1" name=""/>
        <p:cNvGrpSpPr/>
        <p:nvPr/>
      </p:nvGrpSpPr>
      <p:grpSpPr/>
      <p:sp>
        <p:nvSpPr>
          <p:cNvPr id="2" name="TextBox 1"/>
          <p:cNvSpPr txBox="1"/>
          <p:nvPr/>
        </p:nvSpPr>
        <p:spPr>
          <a:xfrm>
            <a:off x="812800" y="1905000"/>
            <a:ext cx="10566400" cy="254000"/>
          </a:xfrm>
          <a:prstGeom prst="rect">
            <a:avLst/>
          </a:prstGeom>
          <a:noFill/>
        </p:spPr>
        <p:txBody>
          <a:bodyPr wrap="square" lIns="0" rIns="0" tIns="0" bIns="0">
            <a:spAutoFit/>
          </a:bodyPr>
          <a:lstStyle/>
          <a:p>
            <a:pPr algn="l">
              <a:spcBef>
                <a:spcPts val="0"/>
              </a:spcBef>
            </a:pPr>
            <a:r>
              <a:rPr sz="1200" b="1" spc="300">
                <a:solidFill>
                  <a:srgbClr val="F7F6F2"/>
                </a:solidFill>
                <a:latin typeface="Arial"/>
              </a:rPr>
              <a:t>HASIL UJI PERFORMA · SERVER PRODUKSI, 18 OKTOBER 2026</a:t>
            </a:r>
          </a:p>
        </p:txBody>
      </p:sp>
      <p:sp>
        <p:nvSpPr>
          <p:cNvPr id="3" name="TextBox 2"/>
          <p:cNvSpPr txBox="1"/>
          <p:nvPr/>
        </p:nvSpPr>
        <p:spPr>
          <a:xfrm>
            <a:off x="812800" y="2349500"/>
            <a:ext cx="10566400" cy="1651000"/>
          </a:xfrm>
          <a:prstGeom prst="rect">
            <a:avLst/>
          </a:prstGeom>
          <a:noFill/>
        </p:spPr>
        <p:txBody>
          <a:bodyPr wrap="square" lIns="0" rIns="0" tIns="0" bIns="0">
            <a:spAutoFit/>
          </a:bodyPr>
          <a:lstStyle/>
          <a:p>
            <a:pPr algn="l">
              <a:spcBef>
                <a:spcPts val="0"/>
              </a:spcBef>
            </a:pPr>
            <a:r>
              <a:rPr sz="5600" b="1">
                <a:solidFill>
                  <a:srgbClr val="F7F6F2"/>
                </a:solidFill>
                <a:latin typeface="Arial"/>
              </a:rPr>
              <a:t>CSV 500 MB siap dipakai dalam ± 5 menit</a:t>
            </a:r>
          </a:p>
        </p:txBody>
      </p:sp>
      <p:sp>
        <p:nvSpPr>
          <p:cNvPr id="4" name="TextBox 3"/>
          <p:cNvSpPr txBox="1"/>
          <p:nvPr/>
        </p:nvSpPr>
        <p:spPr>
          <a:xfrm>
            <a:off x="812800" y="4191000"/>
            <a:ext cx="8890000" cy="698500"/>
          </a:xfrm>
          <a:prstGeom prst="rect">
            <a:avLst/>
          </a:prstGeom>
          <a:noFill/>
        </p:spPr>
        <p:txBody>
          <a:bodyPr wrap="square" lIns="0" rIns="0" tIns="0" bIns="0">
            <a:spAutoFit/>
          </a:bodyPr>
          <a:lstStyle/>
          <a:p>
            <a:pPr algn="l">
              <a:spcBef>
                <a:spcPts val="0"/>
              </a:spcBef>
            </a:pPr>
            <a:r>
              <a:rPr sz="1800" b="0">
                <a:solidFill>
                  <a:srgbClr val="F7F6F2"/>
                </a:solidFill>
                <a:latin typeface="Arial"/>
              </a:rPr>
              <a:t>Excel 500 MB (dua sheet) ± 8,5 menit. Server tetap tenang: disk sibuk paling tinggi 14 %.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Berapa lama sampai data siap</a:t>
            </a:r>
          </a:p>
        </p:txBody>
      </p:sp>
      <p:sp>
        <p:nvSpPr>
          <p:cNvPr id="3" name="TextBox 2"/>
          <p:cNvSpPr txBox="1"/>
          <p:nvPr/>
        </p:nvSpPr>
        <p:spPr>
          <a:xfrm>
            <a:off x="812800" y="1460500"/>
            <a:ext cx="10566400" cy="285750"/>
          </a:xfrm>
          <a:prstGeom prst="rect">
            <a:avLst/>
          </a:prstGeom>
          <a:noFill/>
        </p:spPr>
        <p:txBody>
          <a:bodyPr wrap="square" lIns="0" rIns="0" tIns="0" bIns="0">
            <a:spAutoFit/>
          </a:bodyPr>
          <a:lstStyle/>
          <a:p>
            <a:pPr algn="l">
              <a:spcBef>
                <a:spcPts val="0"/>
              </a:spcBef>
            </a:pPr>
            <a:r>
              <a:rPr sz="1400" b="0">
                <a:solidFill>
                  <a:srgbClr val="4A5568"/>
                </a:solidFill>
                <a:latin typeface="Arial"/>
              </a:rPr>
              <a:t>Unggah + proses di server produksi, dari jaringan kantor 100 Mbps.</a:t>
            </a:r>
          </a:p>
        </p:txBody>
      </p:sp>
      <p:graphicFrame>
        <p:nvGraphicFramePr>
          <p:cNvPr id="4" name="Table 3"/>
          <p:cNvGraphicFramePr>
            <a:graphicFrameLocks noGrp="1"/>
          </p:cNvGraphicFramePr>
          <p:nvPr/>
        </p:nvGraphicFramePr>
        <p:xfrm>
          <a:off x="812800" y="1905000"/>
          <a:ext cx="10566400" cy="2933700"/>
        </p:xfrm>
        <a:graphic>
          <a:graphicData uri="http://schemas.openxmlformats.org/drawingml/2006/table">
            <a:tbl>
              <a:tblPr firstRow="1" bandRow="1">
                <a:tableStyleId>{5C22544A-7EE6-4342-B048-85BDC9FD1C3A}</a:tableStyleId>
              </a:tblPr>
              <a:tblGrid>
                <a:gridCol w="2641600"/>
                <a:gridCol w="2324608"/>
                <a:gridCol w="2641600"/>
                <a:gridCol w="2958592"/>
              </a:tblGrid>
              <a:tr h="419100">
                <a:tc>
                  <a:txBody>
                    <a:bodyPr wrap="square"/>
                    <a:lstStyle/>
                    <a:p>
                      <a:pPr algn="l">
                        <a:spcBef>
                          <a:spcPts val="0"/>
                        </a:spcBef>
                      </a:pPr>
                      <a:r>
                        <a:rPr sz="1600" b="1">
                          <a:solidFill>
                            <a:srgbClr val="4A5568"/>
                          </a:solidFill>
                          <a:latin typeface="Arial"/>
                        </a:rPr>
                        <a:t>Ukuran file</a:t>
                      </a:r>
                    </a:p>
                  </a:txBody>
                  <a:tcPr marL="101600" marR="101600" anchor="ctr">
                    <a:solidFill>
                      <a:srgbClr val="EEF1F6"/>
                    </a:solidFill>
                  </a:tcPr>
                </a:tc>
                <a:tc>
                  <a:txBody>
                    <a:bodyPr wrap="square"/>
                    <a:lstStyle/>
                    <a:p>
                      <a:pPr algn="l">
                        <a:spcBef>
                          <a:spcPts val="0"/>
                        </a:spcBef>
                      </a:pPr>
                      <a:r>
                        <a:rPr sz="1600" b="1">
                          <a:solidFill>
                            <a:srgbClr val="4A5568"/>
                          </a:solidFill>
                          <a:latin typeface="Arial"/>
                        </a:rPr>
                        <a:t>CSV</a:t>
                      </a:r>
                    </a:p>
                  </a:txBody>
                  <a:tcPr marL="101600" marR="101600" anchor="ctr">
                    <a:solidFill>
                      <a:srgbClr val="EEF1F6"/>
                    </a:solidFill>
                  </a:tcPr>
                </a:tc>
                <a:tc>
                  <a:txBody>
                    <a:bodyPr wrap="square"/>
                    <a:lstStyle/>
                    <a:p>
                      <a:pPr algn="l">
                        <a:spcBef>
                          <a:spcPts val="0"/>
                        </a:spcBef>
                      </a:pPr>
                      <a:r>
                        <a:rPr sz="1600" b="1">
                          <a:solidFill>
                            <a:srgbClr val="4A5568"/>
                          </a:solidFill>
                          <a:latin typeface="Arial"/>
                        </a:rPr>
                        <a:t>Excel (xlsx)</a:t>
                      </a:r>
                    </a:p>
                  </a:txBody>
                  <a:tcPr marL="101600" marR="101600" anchor="ctr">
                    <a:solidFill>
                      <a:srgbClr val="EEF1F6"/>
                    </a:solidFill>
                  </a:tcPr>
                </a:tc>
                <a:tc>
                  <a:txBody>
                    <a:bodyPr wrap="square"/>
                    <a:lstStyle/>
                    <a:p>
                      <a:pPr algn="l">
                        <a:spcBef>
                          <a:spcPts val="0"/>
                        </a:spcBef>
                      </a:pPr>
                      <a:r>
                        <a:rPr sz="1600" b="1">
                          <a:solidFill>
                            <a:srgbClr val="4A5568"/>
                          </a:solidFill>
                          <a:latin typeface="Arial"/>
                        </a:rPr>
                        <a:t>Tambahan lewat VPN</a:t>
                      </a:r>
                    </a:p>
                  </a:txBody>
                  <a:tcPr marL="101600" marR="101600" anchor="ctr">
                    <a:solidFill>
                      <a:srgbClr val="EEF1F6"/>
                    </a:solidFill>
                  </a:tcPr>
                </a:tc>
              </a:tr>
              <a:tr h="419100">
                <a:tc>
                  <a:txBody>
                    <a:bodyPr wrap="square"/>
                    <a:lstStyle/>
                    <a:p>
                      <a:pPr algn="l">
                        <a:spcBef>
                          <a:spcPts val="0"/>
                        </a:spcBef>
                      </a:pPr>
                      <a:r>
                        <a:rPr sz="1600" b="0">
                          <a:solidFill>
                            <a:srgbClr val="16202E"/>
                          </a:solidFill>
                          <a:latin typeface="Arial"/>
                        </a:rPr>
                        <a:t>10 MB</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12 dtk</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12 dtk</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+ 2 dtk</a:t>
                      </a:r>
                    </a:p>
                  </a:txBody>
                  <a:tcPr marL="101600" marR="101600" anchor="ctr">
                    <a:solidFill>
                      <a:srgbClr val="FDFCFA"/>
                    </a:solidFill>
                  </a:tcPr>
                </a:tc>
              </a:tr>
              <a:tr h="419100">
                <a:tc>
                  <a:txBody>
                    <a:bodyPr wrap="square"/>
                    <a:lstStyle/>
                    <a:p>
                      <a:pPr algn="l">
                        <a:spcBef>
                          <a:spcPts val="0"/>
                        </a:spcBef>
                      </a:pPr>
                      <a:r>
                        <a:rPr sz="1600" b="0">
                          <a:solidFill>
                            <a:srgbClr val="16202E"/>
                          </a:solidFill>
                          <a:latin typeface="Arial"/>
                        </a:rPr>
                        <a:t>50 MB</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35 dtk</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50 dtk</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+ 11 dtk</a:t>
                      </a:r>
                    </a:p>
                  </a:txBody>
                  <a:tcPr marL="101600" marR="101600" anchor="ctr">
                    <a:solidFill>
                      <a:srgbClr val="FDFCFA"/>
                    </a:solidFill>
                  </a:tcPr>
                </a:tc>
              </a:tr>
              <a:tr h="419100">
                <a:tc>
                  <a:txBody>
                    <a:bodyPr wrap="square"/>
                    <a:lstStyle/>
                    <a:p>
                      <a:pPr algn="l">
                        <a:spcBef>
                          <a:spcPts val="0"/>
                        </a:spcBef>
                      </a:pPr>
                      <a:r>
                        <a:rPr sz="1600" b="0">
                          <a:solidFill>
                            <a:srgbClr val="16202E"/>
                          </a:solidFill>
                          <a:latin typeface="Arial"/>
                        </a:rPr>
                        <a:t>100 MB</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2,5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+ 22 dtk</a:t>
                      </a:r>
                    </a:p>
                  </a:txBody>
                  <a:tcPr marL="101600" marR="101600" anchor="ctr">
                    <a:solidFill>
                      <a:srgbClr val="FDFCFA"/>
                    </a:solidFill>
                  </a:tcPr>
                </a:tc>
              </a:tr>
              <a:tr h="419100">
                <a:tc>
                  <a:txBody>
                    <a:bodyPr wrap="square"/>
                    <a:lstStyle/>
                    <a:p>
                      <a:pPr algn="l">
                        <a:spcBef>
                          <a:spcPts val="0"/>
                        </a:spcBef>
                      </a:pPr>
                      <a:r>
                        <a:rPr sz="1600" b="0">
                          <a:solidFill>
                            <a:srgbClr val="16202E"/>
                          </a:solidFill>
                          <a:latin typeface="Arial"/>
                        </a:rPr>
                        <a:t>250 MB</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2,5–3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6,5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 mnt</a:t>
                      </a:r>
                    </a:p>
                  </a:txBody>
                  <a:tcPr marL="101600" marR="101600" anchor="ctr">
                    <a:solidFill>
                      <a:srgbClr val="FDFCFA"/>
                    </a:solidFill>
                  </a:tcPr>
                </a:tc>
              </a:tr>
              <a:tr h="419100">
                <a:tc>
                  <a:txBody>
                    <a:bodyPr wrap="square"/>
                    <a:lstStyle/>
                    <a:p>
                      <a:pPr algn="l">
                        <a:spcBef>
                          <a:spcPts val="0"/>
                        </a:spcBef>
                      </a:pPr>
                      <a:r>
                        <a:rPr sz="1600" b="0">
                          <a:solidFill>
                            <a:srgbClr val="16202E"/>
                          </a:solidFill>
                          <a:latin typeface="Arial"/>
                        </a:rPr>
                        <a:t>500 MB</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5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8,5 mnt</a:t>
                      </a:r>
                    </a:p>
                  </a:txBody>
                  <a:tcPr marL="101600" marR="101600" anchor="ctr">
                    <a:solidFill>
                      <a:srgbClr val="FDFCFA"/>
                    </a:solidFill>
                  </a:tcPr>
                </a:tc>
                <a:tc>
                  <a:txBody>
                    <a:bodyPr wrap="square"/>
                    <a:lstStyle/>
                    <a:p>
                      <a:pPr algn="l">
                        <a:spcBef>
                          <a:spcPts val="0"/>
                        </a:spcBef>
                      </a:pPr>
                      <a:r>
                        <a:rPr sz="1600" b="0">
                          <a:solidFill>
                            <a:srgbClr val="16202E"/>
                          </a:solidFill>
                          <a:latin typeface="Arial"/>
                        </a:rPr>
                        <a:t>+ 1 mnt 50 dtk</a:t>
                      </a:r>
                    </a:p>
                  </a:txBody>
                  <a:tcPr marL="101600" marR="101600" anchor="ctr">
                    <a:solidFill>
                      <a:srgbClr val="FDFCFA"/>
                    </a:solidFill>
                  </a:tcPr>
                </a:tc>
              </a:tr>
              <a:tr h="419100">
                <a:tc>
                  <a:txBody>
                    <a:bodyPr wrap="square"/>
                    <a:lstStyle/>
                    <a:p>
                      <a:pPr algn="l">
                        <a:spcBef>
                          <a:spcPts val="0"/>
                        </a:spcBef>
                      </a:pPr>
                      <a:r>
                        <a:rPr sz="1600" b="0">
                          <a:solidFill>
                            <a:srgbClr val="16202E"/>
                          </a:solidFill>
                          <a:latin typeface="Arial"/>
                        </a:rPr>
                        <a:t>1 GB (perkiraan)</a:t>
                      </a:r>
                    </a:p>
                  </a:txBody>
                  <a:tcPr marL="101600" marR="101600" anchor="ctr">
                    <a:solidFill>
                      <a:srgbClr val="F7F6F2"/>
                    </a:solidFill>
                  </a:tcPr>
                </a:tc>
                <a:tc>
                  <a:txBody>
                    <a:bodyPr wrap="square"/>
                    <a:lstStyle/>
                    <a:p>
                      <a:pPr algn="l">
                        <a:spcBef>
                          <a:spcPts val="0"/>
                        </a:spcBef>
                      </a:pPr>
                      <a:r>
                        <a:rPr sz="1600" b="0">
                          <a:solidFill>
                            <a:srgbClr val="16202E"/>
                          </a:solidFill>
                          <a:latin typeface="Arial"/>
                        </a:rPr>
                        <a:t>± 11 mnt</a:t>
                      </a:r>
                    </a:p>
                  </a:txBody>
                  <a:tcPr marL="101600" marR="101600" anchor="ctr">
                    <a:solidFill>
                      <a:srgbClr val="F7F6F2"/>
                    </a:solidFill>
                  </a:tcPr>
                </a:tc>
                <a:tc>
                  <a:txBody>
                    <a:bodyPr wrap="square"/>
                    <a:lstStyle/>
                    <a:p>
                      <a:pPr algn="l">
                        <a:spcBef>
                          <a:spcPts val="0"/>
                        </a:spcBef>
                      </a:pPr>
                      <a:r>
                        <a:rPr sz="1600" b="0">
                          <a:solidFill>
                            <a:srgbClr val="16202E"/>
                          </a:solidFill>
                          <a:latin typeface="Arial"/>
                        </a:rPr>
                        <a:t>± 18–19 mnt</a:t>
                      </a:r>
                    </a:p>
                  </a:txBody>
                  <a:tcPr marL="101600" marR="101600" anchor="ctr">
                    <a:solidFill>
                      <a:srgbClr val="F7F6F2"/>
                    </a:solidFill>
                  </a:tcPr>
                </a:tc>
                <a:tc>
                  <a:txBody>
                    <a:bodyPr wrap="square"/>
                    <a:lstStyle/>
                    <a:p>
                      <a:pPr algn="l">
                        <a:spcBef>
                          <a:spcPts val="0"/>
                        </a:spcBef>
                      </a:pPr>
                      <a:r>
                        <a:rPr sz="1600" b="0">
                          <a:solidFill>
                            <a:srgbClr val="16202E"/>
                          </a:solidFill>
                          <a:latin typeface="Arial"/>
                        </a:rPr>
                        <a:t>+ 4 mnt</a:t>
                      </a:r>
                    </a:p>
                  </a:txBody>
                  <a:tcPr marL="101600" marR="101600" anchor="ctr">
                    <a:solidFill>
                      <a:srgbClr val="F7F6F2"/>
                    </a:solidFill>
                  </a:tcPr>
                </a:tc>
              </a:tr>
            </a:tbl>
          </a:graphicData>
        </a:graphic>
      </p:graphicFrame>
      <p:sp>
        <p:nvSpPr>
          <p:cNvPr id="5" name="TextBox 4"/>
          <p:cNvSpPr txBox="1"/>
          <p:nvPr/>
        </p:nvSpPr>
        <p:spPr>
          <a:xfrm>
            <a:off x="812800" y="5080000"/>
            <a:ext cx="10566400" cy="444500"/>
          </a:xfrm>
          <a:prstGeom prst="rect">
            <a:avLst/>
          </a:prstGeom>
          <a:noFill/>
        </p:spPr>
        <p:txBody>
          <a:bodyPr wrap="square" lIns="0" rIns="0" tIns="0" bIns="0">
            <a:spAutoFit/>
          </a:bodyPr>
          <a:lstStyle/>
          <a:p>
            <a:pPr algn="l">
              <a:spcBef>
                <a:spcPts val="0"/>
              </a:spcBef>
            </a:pPr>
            <a:r>
              <a:rPr sz="1200" b="0">
                <a:solidFill>
                  <a:srgbClr val="4A5568"/>
                </a:solidFill>
                <a:latin typeface="Arial"/>
              </a:rPr>
              <a:t>10–500 MB diukur 18 Oktober 2026 lewat aplikasi sungguhan; 1 GB perkiraan dari tren. Excel 250 MB satu sheet, 500 MB dua sheet. VPN terukur 27 Mbps.</a:t>
            </a:r>
          </a:p>
        </p:txBody>
      </p:sp>
      <p:sp>
        <p:nvSpPr>
          <p:cNvPr id="6" name="TextBox 5"/>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7" name="TextBox 6"/>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Yang kami pelajari dari uji</a:t>
            </a:r>
          </a:p>
        </p:txBody>
      </p:sp>
      <p:sp>
        <p:nvSpPr>
          <p:cNvPr id="3" name="Rounded Rectangle 2"/>
          <p:cNvSpPr/>
          <p:nvPr/>
        </p:nvSpPr>
        <p:spPr>
          <a:xfrm>
            <a:off x="812800" y="1714500"/>
            <a:ext cx="5181600" cy="1270000"/>
          </a:xfrm>
          <a:prstGeom prst="roundRect">
            <a:avLst>
              <a:gd name="adj" fmla="val 8000"/>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CSV: 4 dtk + 0,54 dtk per MB</a:t>
            </a:r>
          </a:p>
          <a:p>
            <a:pPr algn="l">
              <a:spcBef>
                <a:spcPts val="600"/>
              </a:spcBef>
            </a:pPr>
            <a:r>
              <a:rPr sz="1400" b="0">
                <a:solidFill>
                  <a:srgbClr val="4A5568"/>
                </a:solidFill>
                <a:latin typeface="Arial"/>
              </a:rPr>
              <a:t>Naik lurus dan mudah ditebak; tahap terberat adalah deteksi tipe kolom.</a:t>
            </a:r>
          </a:p>
        </p:txBody>
      </p:sp>
      <p:sp>
        <p:nvSpPr>
          <p:cNvPr id="4" name="Rectangle 3"/>
          <p:cNvSpPr/>
          <p:nvPr/>
        </p:nvSpPr>
        <p:spPr>
          <a:xfrm>
            <a:off x="812800" y="1816100"/>
            <a:ext cx="38100" cy="10668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 name="Rounded Rectangle 4"/>
          <p:cNvSpPr/>
          <p:nvPr/>
        </p:nvSpPr>
        <p:spPr>
          <a:xfrm>
            <a:off x="6197600" y="1714500"/>
            <a:ext cx="5181600" cy="1270000"/>
          </a:xfrm>
          <a:prstGeom prst="roundRect">
            <a:avLst>
              <a:gd name="adj" fmla="val 8000"/>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Excel: baris per sheet menentukan</a:t>
            </a:r>
          </a:p>
          <a:p>
            <a:pPr algn="l">
              <a:spcBef>
                <a:spcPts val="600"/>
              </a:spcBef>
            </a:pPr>
            <a:r>
              <a:rPr sz="1400" b="0">
                <a:solidFill>
                  <a:srgbClr val="4A5568"/>
                </a:solidFill>
                <a:latin typeface="Arial"/>
              </a:rPr>
              <a:t>1,5–2,6× lebih lambat dari CSV; beberapa sheet dibaca paralel.</a:t>
            </a:r>
          </a:p>
        </p:txBody>
      </p:sp>
      <p:sp>
        <p:nvSpPr>
          <p:cNvPr id="6" name="Rectangle 5"/>
          <p:cNvSpPr/>
          <p:nvPr/>
        </p:nvSpPr>
        <p:spPr>
          <a:xfrm>
            <a:off x="6197600" y="1816100"/>
            <a:ext cx="38100" cy="1066800"/>
          </a:xfrm>
          <a:prstGeom prst="rect">
            <a:avLst/>
          </a:prstGeom>
          <a:solidFill>
            <a:srgbClr val="2457C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 name="Rounded Rectangle 6"/>
          <p:cNvSpPr/>
          <p:nvPr/>
        </p:nvSpPr>
        <p:spPr>
          <a:xfrm>
            <a:off x="812800" y="3187700"/>
            <a:ext cx="5181600" cy="1270000"/>
          </a:xfrm>
          <a:prstGeom prst="roundRect">
            <a:avLst>
              <a:gd name="adj" fmla="val 8000"/>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Server tetap aman</a:t>
            </a:r>
          </a:p>
          <a:p>
            <a:pPr algn="l">
              <a:spcBef>
                <a:spcPts val="600"/>
              </a:spcBef>
            </a:pPr>
            <a:r>
              <a:rPr sz="1400" b="0">
                <a:solidFill>
                  <a:srgbClr val="4A5568"/>
                </a:solidFill>
                <a:latin typeface="Arial"/>
              </a:rPr>
              <a:t>Beban puncak 5,8 dari 8 CPU, disk sibuk maks 14 %, RAM sisa 8,6 GB.</a:t>
            </a:r>
          </a:p>
        </p:txBody>
      </p:sp>
      <p:sp>
        <p:nvSpPr>
          <p:cNvPr id="8" name="Rectangle 7"/>
          <p:cNvSpPr/>
          <p:nvPr/>
        </p:nvSpPr>
        <p:spPr>
          <a:xfrm>
            <a:off x="812800" y="3289300"/>
            <a:ext cx="38100" cy="10668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 name="Rounded Rectangle 8"/>
          <p:cNvSpPr/>
          <p:nvPr/>
        </p:nvSpPr>
        <p:spPr>
          <a:xfrm>
            <a:off x="6197600" y="3187700"/>
            <a:ext cx="5181600" cy="1270000"/>
          </a:xfrm>
          <a:prstGeom prst="roundRect">
            <a:avLst>
              <a:gd name="adj" fmla="val 8000"/>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800" b="1">
                <a:solidFill>
                  <a:srgbClr val="16202E"/>
                </a:solidFill>
                <a:latin typeface="Arial"/>
              </a:rPr>
              <a:t>± 2× lebih cepat dari uji awal</a:t>
            </a:r>
          </a:p>
          <a:p>
            <a:pPr algn="l">
              <a:spcBef>
                <a:spcPts val="600"/>
              </a:spcBef>
            </a:pPr>
            <a:r>
              <a:rPr sz="1400" b="0">
                <a:solidFill>
                  <a:srgbClr val="4A5568"/>
                </a:solidFill>
                <a:latin typeface="Arial"/>
              </a:rPr>
              <a:t>Excel 1 GB: 38,8 → ± 18 menit (perkiraan) setelah parse sheet paralel.</a:t>
            </a:r>
          </a:p>
        </p:txBody>
      </p:sp>
      <p:sp>
        <p:nvSpPr>
          <p:cNvPr id="10" name="Rectangle 9"/>
          <p:cNvSpPr/>
          <p:nvPr/>
        </p:nvSpPr>
        <p:spPr>
          <a:xfrm>
            <a:off x="6197600" y="3289300"/>
            <a:ext cx="38100" cy="1066800"/>
          </a:xfrm>
          <a:prstGeom prst="rect">
            <a:avLst/>
          </a:prstGeom>
          <a:solidFill>
            <a:srgbClr val="B447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1" name="TextBox 10"/>
          <p:cNvSpPr txBox="1"/>
          <p:nvPr/>
        </p:nvSpPr>
        <p:spPr>
          <a:xfrm>
            <a:off x="812800" y="4826000"/>
            <a:ext cx="10566400" cy="285750"/>
          </a:xfrm>
          <a:prstGeom prst="rect">
            <a:avLst/>
          </a:prstGeom>
          <a:noFill/>
        </p:spPr>
        <p:txBody>
          <a:bodyPr wrap="square" lIns="0" rIns="0" tIns="0" bIns="0">
            <a:spAutoFit/>
          </a:bodyPr>
          <a:lstStyle/>
          <a:p>
            <a:pPr algn="l">
              <a:spcBef>
                <a:spcPts val="0"/>
              </a:spcBef>
            </a:pPr>
            <a:r>
              <a:rPr sz="1400" b="0">
                <a:solidFill>
                  <a:srgbClr val="16202E"/>
                </a:solidFill>
                <a:latin typeface="Arial"/>
              </a:rPr>
              <a:t>Saran untuk pengguna: simpan sebagai </a:t>
            </a:r>
            <a:r>
              <a:rPr sz="1400" b="0">
                <a:solidFill>
                  <a:srgbClr val="2457C5"/>
                </a:solidFill>
                <a:latin typeface="Arial"/>
              </a:rPr>
              <a:t>CSV</a:t>
            </a:r>
            <a:r>
              <a:rPr sz="1400" b="0">
                <a:solidFill>
                  <a:srgbClr val="16202E"/>
                </a:solidFill>
                <a:latin typeface="Arial"/>
              </a:rPr>
              <a:t> untuk data 100 MB ke atas.</a:t>
            </a:r>
          </a:p>
        </p:txBody>
      </p:sp>
      <p:sp>
        <p:nvSpPr>
          <p:cNvPr id="12" name="TextBox 11"/>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13" name="TextBox 12"/>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1F6"/>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Yang perlu keputusan atau bantuan</a:t>
            </a:r>
          </a:p>
        </p:txBody>
      </p:sp>
      <p:graphicFrame>
        <p:nvGraphicFramePr>
          <p:cNvPr id="3" name="Table 2"/>
          <p:cNvGraphicFramePr>
            <a:graphicFrameLocks noGrp="1"/>
          </p:cNvGraphicFramePr>
          <p:nvPr/>
        </p:nvGraphicFramePr>
        <p:xfrm>
          <a:off x="812800" y="1651000"/>
          <a:ext cx="10566400" cy="3810000"/>
        </p:xfrm>
        <a:graphic>
          <a:graphicData uri="http://schemas.openxmlformats.org/drawingml/2006/table">
            <a:tbl>
              <a:tblPr firstRow="1" bandRow="1">
                <a:tableStyleId>{5C22544A-7EE6-4342-B048-85BDC9FD1C3A}</a:tableStyleId>
              </a:tblPr>
              <a:tblGrid>
                <a:gridCol w="3169920"/>
                <a:gridCol w="4649216"/>
                <a:gridCol w="2747264"/>
              </a:tblGrid>
              <a:tr h="635000">
                <a:tc>
                  <a:txBody>
                    <a:bodyPr wrap="square"/>
                    <a:lstStyle/>
                    <a:p>
                      <a:pPr algn="l">
                        <a:spcBef>
                          <a:spcPts val="0"/>
                        </a:spcBef>
                      </a:pPr>
                      <a:r>
                        <a:rPr sz="1400" b="1">
                          <a:solidFill>
                            <a:srgbClr val="4A5568"/>
                          </a:solidFill>
                          <a:latin typeface="Arial"/>
                        </a:rPr>
                        <a:t>Item</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Kenapa penting</a:t>
                      </a:r>
                    </a:p>
                  </a:txBody>
                  <a:tcPr marL="101600" marR="101600" anchor="ctr">
                    <a:solidFill>
                      <a:srgbClr val="EEF1F6"/>
                    </a:solidFill>
                  </a:tcPr>
                </a:tc>
                <a:tc>
                  <a:txBody>
                    <a:bodyPr wrap="square"/>
                    <a:lstStyle/>
                    <a:p>
                      <a:pPr algn="l">
                        <a:spcBef>
                          <a:spcPts val="0"/>
                        </a:spcBef>
                      </a:pPr>
                      <a:r>
                        <a:rPr sz="1400" b="1">
                          <a:solidFill>
                            <a:srgbClr val="4A5568"/>
                          </a:solidFill>
                          <a:latin typeface="Arial"/>
                        </a:rPr>
                        <a:t>Yang dibutuhkan</a:t>
                      </a:r>
                    </a:p>
                  </a:txBody>
                  <a:tcPr marL="101600" marR="101600" anchor="ctr">
                    <a:solidFill>
                      <a:srgbClr val="EEF1F6"/>
                    </a:solidFill>
                  </a:tcPr>
                </a:tc>
              </a:tr>
              <a:tr h="635000">
                <a:tc>
                  <a:txBody>
                    <a:bodyPr wrap="square"/>
                    <a:lstStyle/>
                    <a:p>
                      <a:pPr algn="l">
                        <a:spcBef>
                          <a:spcPts val="0"/>
                        </a:spcBef>
                      </a:pPr>
                      <a:r>
                        <a:rPr sz="1400" b="0">
                          <a:solidFill>
                            <a:srgbClr val="16202E"/>
                          </a:solidFill>
                          <a:latin typeface="Arial"/>
                        </a:rPr>
                        <a:t>Backup di luar VM</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Backup terenkripsi kini hanya ada di VM yang sama</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Target NAS, SFTP, atau S3</a:t>
                      </a:r>
                    </a:p>
                  </a:txBody>
                  <a:tcPr marL="101600" marR="101600" anchor="ctr">
                    <a:solidFill>
                      <a:srgbClr val="FDFCFA"/>
                    </a:solidFill>
                  </a:tcPr>
                </a:tc>
              </a:tr>
              <a:tr h="635000">
                <a:tc>
                  <a:txBody>
                    <a:bodyPr wrap="square"/>
                    <a:lstStyle/>
                    <a:p>
                      <a:pPr algn="l">
                        <a:spcBef>
                          <a:spcPts val="0"/>
                        </a:spcBef>
                      </a:pPr>
                      <a:r>
                        <a:rPr sz="1400" b="0">
                          <a:solidFill>
                            <a:srgbClr val="16202E"/>
                          </a:solidFill>
                          <a:latin typeface="Arial"/>
                        </a:rPr>
                        <a:t>VM dengan disk SSD</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Build 21 menit dan uji 1 GB terhambat disk HDD bersama</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Alokasi VM, atau build di luar VM</a:t>
                      </a:r>
                    </a:p>
                  </a:txBody>
                  <a:tcPr marL="101600" marR="101600" anchor="ctr">
                    <a:solidFill>
                      <a:srgbClr val="FDFCFA"/>
                    </a:solidFill>
                  </a:tcPr>
                </a:tc>
              </a:tr>
              <a:tr h="635000">
                <a:tc>
                  <a:txBody>
                    <a:bodyPr wrap="square"/>
                    <a:lstStyle/>
                    <a:p>
                      <a:pPr algn="l">
                        <a:spcBef>
                          <a:spcPts val="0"/>
                        </a:spcBef>
                      </a:pPr>
                      <a:r>
                        <a:rPr sz="1400" b="0">
                          <a:solidFill>
                            <a:srgbClr val="16202E"/>
                          </a:solidFill>
                          <a:latin typeface="Arial"/>
                        </a:rPr>
                        <a:t>Database ke UTF-8</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Database olympus masih berenkode SQL_ASCII</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Akses sudo sekali</a:t>
                      </a:r>
                    </a:p>
                  </a:txBody>
                  <a:tcPr marL="101600" marR="101600" anchor="ctr">
                    <a:solidFill>
                      <a:srgbClr val="FDFCFA"/>
                    </a:solidFill>
                  </a:tcPr>
                </a:tc>
              </a:tr>
              <a:tr h="635000">
                <a:tc>
                  <a:txBody>
                    <a:bodyPr wrap="square"/>
                    <a:lstStyle/>
                    <a:p>
                      <a:pPr algn="l">
                        <a:spcBef>
                          <a:spcPts val="0"/>
                        </a:spcBef>
                      </a:pPr>
                      <a:r>
                        <a:rPr sz="1400" b="0">
                          <a:solidFill>
                            <a:srgbClr val="16202E"/>
                          </a:solidFill>
                          <a:latin typeface="Arial"/>
                        </a:rPr>
                        <a:t>Model data periode (ADR-0008)</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Membuka 31 task Lihat data dan data per periode</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Persetujuan</a:t>
                      </a:r>
                    </a:p>
                  </a:txBody>
                  <a:tcPr marL="101600" marR="101600" anchor="ctr">
                    <a:solidFill>
                      <a:srgbClr val="FDFCFA"/>
                    </a:solidFill>
                  </a:tcPr>
                </a:tc>
              </a:tr>
              <a:tr h="635000">
                <a:tc>
                  <a:txBody>
                    <a:bodyPr wrap="square"/>
                    <a:lstStyle/>
                    <a:p>
                      <a:pPr algn="l">
                        <a:spcBef>
                          <a:spcPts val="0"/>
                        </a:spcBef>
                      </a:pPr>
                      <a:r>
                        <a:rPr sz="1400" b="0">
                          <a:solidFill>
                            <a:srgbClr val="16202E"/>
                          </a:solidFill>
                          <a:latin typeface="Arial"/>
                        </a:rPr>
                        <a:t>Opsional: uji 1 GB, 3 thread</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Memastikan batas atas, mempercepat Excel multi-sheet</a:t>
                      </a:r>
                    </a:p>
                  </a:txBody>
                  <a:tcPr marL="101600" marR="101600" anchor="ctr">
                    <a:solidFill>
                      <a:srgbClr val="FDFCFA"/>
                    </a:solidFill>
                  </a:tcPr>
                </a:tc>
                <a:tc>
                  <a:txBody>
                    <a:bodyPr wrap="square"/>
                    <a:lstStyle/>
                    <a:p>
                      <a:pPr algn="l">
                        <a:spcBef>
                          <a:spcPts val="0"/>
                        </a:spcBef>
                      </a:pPr>
                      <a:r>
                        <a:rPr sz="1400" b="0">
                          <a:solidFill>
                            <a:srgbClr val="16202E"/>
                          </a:solidFill>
                          <a:latin typeface="Arial"/>
                        </a:rPr>
                        <a:t>Izin di jam sepi</a:t>
                      </a:r>
                    </a:p>
                  </a:txBody>
                  <a:tcPr marL="101600" marR="101600" anchor="ctr">
                    <a:solidFill>
                      <a:srgbClr val="FDFCFA"/>
                    </a:solidFill>
                  </a:tcPr>
                </a:tc>
              </a:tr>
            </a:tbl>
          </a:graphicData>
        </a:graphic>
      </p:graphicFrame>
      <p:sp>
        <p:nvSpPr>
          <p:cNvPr id="4" name="TextBox 3"/>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5" name="TextBox 4"/>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spAutoFit/>
          </a:bodyPr>
          <a:lstStyle/>
          <a:p>
            <a:pPr algn="l">
              <a:spcBef>
                <a:spcPts val="0"/>
              </a:spcBef>
            </a:pPr>
            <a:r>
              <a:rPr sz="3200" b="1">
                <a:solidFill>
                  <a:srgbClr val="16202E"/>
                </a:solidFill>
                <a:latin typeface="Arial"/>
              </a:rPr>
              <a:t>Berikutnya: Lihat data dan data per periode</a:t>
            </a:r>
          </a:p>
        </p:txBody>
      </p:sp>
      <p:sp>
        <p:nvSpPr>
          <p:cNvPr id="3" name="Rounded Rectangle 2"/>
          <p:cNvSpPr/>
          <p:nvPr/>
        </p:nvSpPr>
        <p:spPr>
          <a:xfrm>
            <a:off x="812800" y="1714500"/>
            <a:ext cx="3384550" cy="2095500"/>
          </a:xfrm>
          <a:prstGeom prst="roundRect">
            <a:avLst>
              <a:gd name="adj" fmla="val 4848"/>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200" b="1" spc="100">
                <a:solidFill>
                  <a:srgbClr val="B4471F"/>
                </a:solidFill>
                <a:latin typeface="Arial"/>
              </a:rPr>
              <a:t>TAHAP 1</a:t>
            </a:r>
          </a:p>
          <a:p>
            <a:pPr algn="l">
              <a:spcBef>
                <a:spcPts val="400"/>
              </a:spcBef>
            </a:pPr>
            <a:r>
              <a:rPr sz="1800" b="1">
                <a:solidFill>
                  <a:srgbClr val="16202E"/>
                </a:solidFill>
                <a:latin typeface="Arial"/>
              </a:rPr>
              <a:t>Lihat data gaya Excel</a:t>
            </a:r>
          </a:p>
          <a:p>
            <a:pPr algn="l">
              <a:spcBef>
                <a:spcPts val="600"/>
              </a:spcBef>
            </a:pPr>
            <a:r>
              <a:rPr sz="1400" b="0">
                <a:solidFill>
                  <a:srgbClr val="4A5568"/>
                </a:solidFill>
                <a:latin typeface="Arial"/>
              </a:rPr>
              <a:t>Tabel baca-saja untuk jutaan baris: urut, saring, cari, salin ke Excel.</a:t>
            </a:r>
          </a:p>
        </p:txBody>
      </p:sp>
      <p:sp>
        <p:nvSpPr>
          <p:cNvPr id="4" name="Rounded Rectangle 3"/>
          <p:cNvSpPr/>
          <p:nvPr/>
        </p:nvSpPr>
        <p:spPr>
          <a:xfrm>
            <a:off x="4400550" y="1714500"/>
            <a:ext cx="3384550" cy="2095500"/>
          </a:xfrm>
          <a:prstGeom prst="roundRect">
            <a:avLst>
              <a:gd name="adj" fmla="val 4848"/>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200" b="1" spc="100">
                <a:solidFill>
                  <a:srgbClr val="B4471F"/>
                </a:solidFill>
                <a:latin typeface="Arial"/>
              </a:rPr>
              <a:t>TAHAP 2</a:t>
            </a:r>
          </a:p>
          <a:p>
            <a:pPr algn="l">
              <a:spcBef>
                <a:spcPts val="400"/>
              </a:spcBef>
            </a:pPr>
            <a:r>
              <a:rPr sz="1800" b="1">
                <a:solidFill>
                  <a:srgbClr val="16202E"/>
                </a:solidFill>
                <a:latin typeface="Arial"/>
              </a:rPr>
              <a:t>Data per periode</a:t>
            </a:r>
          </a:p>
          <a:p>
            <a:pPr algn="l">
              <a:spcBef>
                <a:spcPts val="600"/>
              </a:spcBef>
            </a:pPr>
            <a:r>
              <a:rPr sz="1400" b="0">
                <a:solidFill>
                  <a:srgbClr val="4A5568"/>
                </a:solidFill>
                <a:latin typeface="Arial"/>
              </a:rPr>
              <a:t>Unggah bulanan tanpa memotong periode; tinjau perubahan sebelum data diganti.</a:t>
            </a:r>
          </a:p>
        </p:txBody>
      </p:sp>
      <p:sp>
        <p:nvSpPr>
          <p:cNvPr id="5" name="Rounded Rectangle 4"/>
          <p:cNvSpPr/>
          <p:nvPr/>
        </p:nvSpPr>
        <p:spPr>
          <a:xfrm>
            <a:off x="7988300" y="1714500"/>
            <a:ext cx="3384550" cy="2095500"/>
          </a:xfrm>
          <a:prstGeom prst="roundRect">
            <a:avLst>
              <a:gd name="adj" fmla="val 4848"/>
            </a:avLst>
          </a:prstGeom>
          <a:solidFill>
            <a:srgbClr val="FDFCFA"/>
          </a:solidFill>
          <a:ln w="635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54000" bIns="254000"/>
          <a:lstStyle/>
          <a:p>
            <a:pPr algn="l">
              <a:spcBef>
                <a:spcPts val="0"/>
              </a:spcBef>
            </a:pPr>
            <a:r>
              <a:rPr sz="1200" b="1" spc="100">
                <a:solidFill>
                  <a:srgbClr val="B4471F"/>
                </a:solidFill>
                <a:latin typeface="Arial"/>
              </a:rPr>
              <a:t>TAHAP 3</a:t>
            </a:r>
          </a:p>
          <a:p>
            <a:pPr algn="l">
              <a:spcBef>
                <a:spcPts val="400"/>
              </a:spcBef>
            </a:pPr>
            <a:r>
              <a:rPr sz="1800" b="1">
                <a:solidFill>
                  <a:srgbClr val="16202E"/>
                </a:solidFill>
                <a:latin typeface="Arial"/>
              </a:rPr>
              <a:t>Unggah banyak file</a:t>
            </a:r>
          </a:p>
          <a:p>
            <a:pPr algn="l">
              <a:spcBef>
                <a:spcPts val="600"/>
              </a:spcBef>
            </a:pPr>
            <a:r>
              <a:rPr sz="1400" b="0">
                <a:solidFill>
                  <a:srgbClr val="4A5568"/>
                </a:solidFill>
                <a:latin typeface="Arial"/>
              </a:rPr>
              <a:t>Beberapa file periode sekaligus lewat antrean, dengan batas dan proyeksi kuota.</a:t>
            </a:r>
          </a:p>
        </p:txBody>
      </p:sp>
      <p:sp>
        <p:nvSpPr>
          <p:cNvPr id="6" name="TextBox 5"/>
          <p:cNvSpPr txBox="1"/>
          <p:nvPr/>
        </p:nvSpPr>
        <p:spPr>
          <a:xfrm>
            <a:off x="812800" y="4127500"/>
            <a:ext cx="10566400" cy="285750"/>
          </a:xfrm>
          <a:prstGeom prst="rect">
            <a:avLst/>
          </a:prstGeom>
          <a:noFill/>
        </p:spPr>
        <p:txBody>
          <a:bodyPr wrap="square" lIns="0" rIns="0" tIns="0" bIns="0">
            <a:spAutoFit/>
          </a:bodyPr>
          <a:lstStyle/>
          <a:p>
            <a:pPr algn="l">
              <a:spcBef>
                <a:spcPts val="0"/>
              </a:spcBef>
            </a:pPr>
            <a:r>
              <a:rPr sz="1400" b="0">
                <a:solidFill>
                  <a:srgbClr val="16202E"/>
                </a:solidFill>
                <a:latin typeface="Arial"/>
              </a:rPr>
              <a:t>31 task sudah direncanakan dan siap dimulai setelah model data periode (ADR-0008) disetujui.</a:t>
            </a:r>
          </a:p>
        </p:txBody>
      </p:sp>
      <p:sp>
        <p:nvSpPr>
          <p:cNvPr id="7" name="TextBox 6"/>
          <p:cNvSpPr txBox="1"/>
          <p:nvPr/>
        </p:nvSpPr>
        <p:spPr>
          <a:xfrm>
            <a:off x="812800" y="6235700"/>
            <a:ext cx="5715000" cy="215900"/>
          </a:xfrm>
          <a:prstGeom prst="rect">
            <a:avLst/>
          </a:prstGeom>
          <a:noFill/>
        </p:spPr>
        <p:txBody>
          <a:bodyPr wrap="square" lIns="0" rIns="0" tIns="0" bIns="0">
            <a:spAutoFit/>
          </a:bodyPr>
          <a:lstStyle/>
          <a:p>
            <a:pPr algn="l">
              <a:spcBef>
                <a:spcPts val="0"/>
              </a:spcBef>
            </a:pPr>
            <a:r>
              <a:rPr sz="1200" b="0">
                <a:solidFill>
                  <a:srgbClr val="4A5568"/>
                </a:solidFill>
                <a:latin typeface="Arial"/>
              </a:rPr>
              <a:t>Data Dashboard · PCP Express</a:t>
            </a:r>
          </a:p>
        </p:txBody>
      </p:sp>
      <p:sp>
        <p:nvSpPr>
          <p:cNvPr id="8" name="TextBox 7"/>
          <p:cNvSpPr txBox="1"/>
          <p:nvPr/>
        </p:nvSpPr>
        <p:spPr>
          <a:xfrm>
            <a:off x="10109200" y="6235700"/>
            <a:ext cx="1270000" cy="215900"/>
          </a:xfrm>
          <a:prstGeom prst="rect">
            <a:avLst/>
          </a:prstGeom>
          <a:noFill/>
        </p:spPr>
        <p:txBody>
          <a:bodyPr wrap="square" lIns="0" rIns="0" tIns="0" bIns="0">
            <a:spAutoFit/>
          </a:bodyPr>
          <a:lstStyle/>
          <a:p>
            <a:pPr algn="r">
              <a:spcBef>
                <a:spcPts val="0"/>
              </a:spcBef>
            </a:pPr>
            <a:r>
              <a:rPr sz="1200" b="0">
                <a:solidFill>
                  <a:srgbClr val="4A55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202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spAutoFit/>
          </a:bodyPr>
          <a:lstStyle/>
          <a:p>
            <a:pPr algn="l">
              <a:spcBef>
                <a:spcPts val="0"/>
              </a:spcBef>
            </a:pPr>
            <a:r>
              <a:rPr sz="1200" b="1" spc="300">
                <a:solidFill>
                  <a:srgbClr val="F2A27C"/>
                </a:solidFill>
                <a:latin typeface="Arial"/>
              </a:rPr>
              <a:t>DATA DASHBOARD · PCP EXPRESS</a:t>
            </a:r>
          </a:p>
        </p:txBody>
      </p:sp>
      <p:sp>
        <p:nvSpPr>
          <p:cNvPr id="3" name="TextBox 2"/>
          <p:cNvSpPr txBox="1"/>
          <p:nvPr/>
        </p:nvSpPr>
        <p:spPr>
          <a:xfrm>
            <a:off x="812800" y="2540000"/>
            <a:ext cx="10566400" cy="825500"/>
          </a:xfrm>
          <a:prstGeom prst="rect">
            <a:avLst/>
          </a:prstGeom>
          <a:noFill/>
        </p:spPr>
        <p:txBody>
          <a:bodyPr wrap="square" lIns="0" rIns="0" tIns="0" bIns="0">
            <a:spAutoFit/>
          </a:bodyPr>
          <a:lstStyle/>
          <a:p>
            <a:pPr algn="l">
              <a:spcBef>
                <a:spcPts val="0"/>
              </a:spcBef>
            </a:pPr>
            <a:r>
              <a:rPr sz="5600" b="1">
                <a:solidFill>
                  <a:srgbClr val="F7F6F2"/>
                </a:solidFill>
                <a:latin typeface="Arial"/>
              </a:rPr>
              <a:t>Terima kasih</a:t>
            </a:r>
          </a:p>
        </p:txBody>
      </p:sp>
      <p:sp>
        <p:nvSpPr>
          <p:cNvPr id="4" name="TextBox 3"/>
          <p:cNvSpPr txBox="1"/>
          <p:nvPr/>
        </p:nvSpPr>
        <p:spPr>
          <a:xfrm>
            <a:off x="812800" y="3492500"/>
            <a:ext cx="10566400" cy="381000"/>
          </a:xfrm>
          <a:prstGeom prst="rect">
            <a:avLst/>
          </a:prstGeom>
          <a:noFill/>
        </p:spPr>
        <p:txBody>
          <a:bodyPr wrap="square" lIns="0" rIns="0" tIns="0" bIns="0">
            <a:spAutoFit/>
          </a:bodyPr>
          <a:lstStyle/>
          <a:p>
            <a:pPr algn="l">
              <a:spcBef>
                <a:spcPts val="0"/>
              </a:spcBef>
            </a:pPr>
            <a:r>
              <a:rPr sz="1800" b="0">
                <a:solidFill>
                  <a:srgbClr val="DCE3EE"/>
                </a:solidFill>
                <a:latin typeface="Arial"/>
              </a:rPr>
              <a:t>Pertanyaan dan masukan sangat kami harapkan.</a:t>
            </a:r>
          </a:p>
        </p:txBody>
      </p:sp>
      <p:sp>
        <p:nvSpPr>
          <p:cNvPr id="5" name="Rectangle 4"/>
          <p:cNvSpPr/>
          <p:nvPr/>
        </p:nvSpPr>
        <p:spPr>
          <a:xfrm>
            <a:off x="812800" y="5334000"/>
            <a:ext cx="1016000" cy="25400"/>
          </a:xfrm>
          <a:prstGeom prst="rect">
            <a:avLst/>
          </a:prstGeom>
          <a:solidFill>
            <a:srgbClr val="F2A27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6" name="TextBox 5"/>
          <p:cNvSpPr txBox="1"/>
          <p:nvPr/>
        </p:nvSpPr>
        <p:spPr>
          <a:xfrm>
            <a:off x="812800" y="5511800"/>
            <a:ext cx="10566400" cy="317500"/>
          </a:xfrm>
          <a:prstGeom prst="rect">
            <a:avLst/>
          </a:prstGeom>
          <a:noFill/>
        </p:spPr>
        <p:txBody>
          <a:bodyPr wrap="square" lIns="0" rIns="0" tIns="0" bIns="0">
            <a:spAutoFit/>
          </a:bodyPr>
          <a:lstStyle/>
          <a:p>
            <a:pPr algn="l">
              <a:spcBef>
                <a:spcPts val="0"/>
              </a:spcBef>
            </a:pPr>
            <a:r>
              <a:rPr sz="1400" b="0">
                <a:solidFill>
                  <a:srgbClr val="BFC8D6"/>
                </a:solidFill>
                <a:latin typeface="Arial"/>
              </a:rPr>
              <a:t>Aplikasi: https://10.3.3.221:8443 (jaringan kantor) · Panduan: menu Panduan di aplikasi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Dashboard PCP Express — Ringkasan Proyek</dc:title>
  <dc:subject/>
  <dc:creator>PCP Express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